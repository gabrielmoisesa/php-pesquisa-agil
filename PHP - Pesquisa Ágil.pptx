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Barlow Condensed Bold" charset="1" panose="00000806000000000000"/>
      <p:regular r:id="rId22"/>
    </p:embeddedFont>
    <p:embeddedFont>
      <p:font typeface="Barlow Condensed" charset="1" panose="00000506000000000000"/>
      <p:regular r:id="rId23"/>
    </p:embeddedFont>
    <p:embeddedFont>
      <p:font typeface="Montserrat Ultra-Bold" charset="1" panose="00000900000000000000"/>
      <p:regular r:id="rId24"/>
    </p:embeddedFont>
    <p:embeddedFont>
      <p:font typeface="Montserrat Bold" charset="1" panose="00000800000000000000"/>
      <p:regular r:id="rId25"/>
    </p:embeddedFont>
    <p:embeddedFont>
      <p:font typeface="Montserrat" charset="1" panose="00000500000000000000"/>
      <p:regular r:id="rId26"/>
    </p:embeddedFont>
    <p:embeddedFont>
      <p:font typeface="Barlow SemiCondensed Bold" charset="1" panose="00000806000000000000"/>
      <p:regular r:id="rId27"/>
    </p:embeddedFont>
    <p:embeddedFont>
      <p:font typeface="Barlow SemiCondensed Medium" charset="1" panose="00000606000000000000"/>
      <p:regular r:id="rId28"/>
    </p:embeddedFont>
    <p:embeddedFont>
      <p:font typeface="Roboto Bold" charset="1" panose="02000000000000000000"/>
      <p:regular r:id="rId29"/>
    </p:embeddedFont>
    <p:embeddedFont>
      <p:font typeface="Roboto" charset="1" panose="02000000000000000000"/>
      <p:regular r:id="rId30"/>
    </p:embeddedFont>
    <p:embeddedFont>
      <p:font typeface="Barlow SemiCondensed" charset="1" panose="00000506000000000000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18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20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804858" y="1028700"/>
            <a:ext cx="6454442" cy="8229600"/>
            <a:chOff x="0" y="0"/>
            <a:chExt cx="999962" cy="12749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99962" cy="1274980"/>
            </a:xfrm>
            <a:custGeom>
              <a:avLst/>
              <a:gdLst/>
              <a:ahLst/>
              <a:cxnLst/>
              <a:rect r="r" b="b" t="t" l="l"/>
              <a:pathLst>
                <a:path h="1274980" w="999962">
                  <a:moveTo>
                    <a:pt x="33585" y="0"/>
                  </a:moveTo>
                  <a:lnTo>
                    <a:pt x="966377" y="0"/>
                  </a:lnTo>
                  <a:cubicBezTo>
                    <a:pt x="975284" y="0"/>
                    <a:pt x="983827" y="3538"/>
                    <a:pt x="990125" y="9837"/>
                  </a:cubicBezTo>
                  <a:cubicBezTo>
                    <a:pt x="996423" y="16135"/>
                    <a:pt x="999962" y="24678"/>
                    <a:pt x="999962" y="33585"/>
                  </a:cubicBezTo>
                  <a:lnTo>
                    <a:pt x="999962" y="1241395"/>
                  </a:lnTo>
                  <a:cubicBezTo>
                    <a:pt x="999962" y="1250303"/>
                    <a:pt x="996423" y="1258845"/>
                    <a:pt x="990125" y="1265144"/>
                  </a:cubicBezTo>
                  <a:cubicBezTo>
                    <a:pt x="983827" y="1271442"/>
                    <a:pt x="975284" y="1274980"/>
                    <a:pt x="966377" y="1274980"/>
                  </a:cubicBezTo>
                  <a:lnTo>
                    <a:pt x="33585" y="1274980"/>
                  </a:lnTo>
                  <a:cubicBezTo>
                    <a:pt x="15037" y="1274980"/>
                    <a:pt x="0" y="1259944"/>
                    <a:pt x="0" y="1241395"/>
                  </a:cubicBezTo>
                  <a:lnTo>
                    <a:pt x="0" y="33585"/>
                  </a:lnTo>
                  <a:cubicBezTo>
                    <a:pt x="0" y="15037"/>
                    <a:pt x="15037" y="0"/>
                    <a:pt x="33585" y="0"/>
                  </a:cubicBezTo>
                  <a:close/>
                </a:path>
              </a:pathLst>
            </a:custGeom>
            <a:blipFill>
              <a:blip r:embed="rId2"/>
              <a:stretch>
                <a:fillRect l="0" t="0" r="-35363" b="0"/>
              </a:stretch>
            </a:blipFill>
          </p:spPr>
        </p:sp>
      </p:grpSp>
      <p:sp>
        <p:nvSpPr>
          <p:cNvPr name="AutoShape 4" id="4"/>
          <p:cNvSpPr/>
          <p:nvPr/>
        </p:nvSpPr>
        <p:spPr>
          <a:xfrm flipV="true">
            <a:off x="1173296" y="1923733"/>
            <a:ext cx="9137662" cy="0"/>
          </a:xfrm>
          <a:prstGeom prst="line">
            <a:avLst/>
          </a:prstGeom>
          <a:ln cap="flat" w="38100">
            <a:solidFill>
              <a:srgbClr val="3272B4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2669032" y="3366770"/>
            <a:ext cx="6474968" cy="4363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62"/>
              </a:lnSpc>
            </a:pPr>
            <a:r>
              <a:rPr lang="en-US" b="true" sz="36351" spc="-1090">
                <a:solidFill>
                  <a:srgbClr val="3272B4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PHP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40403" y="8049385"/>
            <a:ext cx="8732227" cy="540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2"/>
              </a:lnSpc>
            </a:pPr>
            <a:r>
              <a:rPr lang="en-US" sz="3992">
                <a:solidFill>
                  <a:srgbClr val="6CA7E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HISTÓRIA, CARACTERÍSTICAS, ÁREAS, CURIOSIDADES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73296" y="1066800"/>
            <a:ext cx="3500977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4"/>
              </a:lnSpc>
            </a:pPr>
            <a:r>
              <a:rPr lang="en-US" sz="2499" b="true">
                <a:solidFill>
                  <a:srgbClr val="3272B4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PHP - PESQUISA ÁGIL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92084" y="2781165"/>
            <a:ext cx="411045" cy="262704"/>
          </a:xfrm>
          <a:custGeom>
            <a:avLst/>
            <a:gdLst/>
            <a:ahLst/>
            <a:cxnLst/>
            <a:rect r="r" b="b" t="t" l="l"/>
            <a:pathLst>
              <a:path h="262704" w="411045">
                <a:moveTo>
                  <a:pt x="0" y="0"/>
                </a:moveTo>
                <a:lnTo>
                  <a:pt x="411045" y="0"/>
                </a:lnTo>
                <a:lnTo>
                  <a:pt x="411045" y="262704"/>
                </a:lnTo>
                <a:lnTo>
                  <a:pt x="0" y="2627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92" t="0" r="-1692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92084" y="797760"/>
            <a:ext cx="136616" cy="998157"/>
            <a:chOff x="0" y="0"/>
            <a:chExt cx="35981" cy="26288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5981" cy="262889"/>
            </a:xfrm>
            <a:custGeom>
              <a:avLst/>
              <a:gdLst/>
              <a:ahLst/>
              <a:cxnLst/>
              <a:rect r="r" b="b" t="t" l="l"/>
              <a:pathLst>
                <a:path h="262889" w="35981">
                  <a:moveTo>
                    <a:pt x="0" y="0"/>
                  </a:moveTo>
                  <a:lnTo>
                    <a:pt x="35981" y="0"/>
                  </a:lnTo>
                  <a:lnTo>
                    <a:pt x="35981" y="262889"/>
                  </a:lnTo>
                  <a:lnTo>
                    <a:pt x="0" y="262889"/>
                  </a:lnTo>
                  <a:close/>
                </a:path>
              </a:pathLst>
            </a:custGeom>
            <a:solidFill>
              <a:srgbClr val="3272B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38100"/>
              <a:ext cx="35981" cy="2247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4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892084" y="4142511"/>
            <a:ext cx="411045" cy="262704"/>
          </a:xfrm>
          <a:custGeom>
            <a:avLst/>
            <a:gdLst/>
            <a:ahLst/>
            <a:cxnLst/>
            <a:rect r="r" b="b" t="t" l="l"/>
            <a:pathLst>
              <a:path h="262704" w="411045">
                <a:moveTo>
                  <a:pt x="0" y="0"/>
                </a:moveTo>
                <a:lnTo>
                  <a:pt x="411045" y="0"/>
                </a:lnTo>
                <a:lnTo>
                  <a:pt x="411045" y="262704"/>
                </a:lnTo>
                <a:lnTo>
                  <a:pt x="0" y="2627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92" t="0" r="-1692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92084" y="5963417"/>
            <a:ext cx="411045" cy="262704"/>
          </a:xfrm>
          <a:custGeom>
            <a:avLst/>
            <a:gdLst/>
            <a:ahLst/>
            <a:cxnLst/>
            <a:rect r="r" b="b" t="t" l="l"/>
            <a:pathLst>
              <a:path h="262704" w="411045">
                <a:moveTo>
                  <a:pt x="0" y="0"/>
                </a:moveTo>
                <a:lnTo>
                  <a:pt x="411045" y="0"/>
                </a:lnTo>
                <a:lnTo>
                  <a:pt x="411045" y="262704"/>
                </a:lnTo>
                <a:lnTo>
                  <a:pt x="0" y="2627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92" t="0" r="-1692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92084" y="7786925"/>
            <a:ext cx="411045" cy="262704"/>
          </a:xfrm>
          <a:custGeom>
            <a:avLst/>
            <a:gdLst/>
            <a:ahLst/>
            <a:cxnLst/>
            <a:rect r="r" b="b" t="t" l="l"/>
            <a:pathLst>
              <a:path h="262704" w="411045">
                <a:moveTo>
                  <a:pt x="0" y="0"/>
                </a:moveTo>
                <a:lnTo>
                  <a:pt x="411045" y="0"/>
                </a:lnTo>
                <a:lnTo>
                  <a:pt x="411045" y="262704"/>
                </a:lnTo>
                <a:lnTo>
                  <a:pt x="0" y="2627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92" t="0" r="-1692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550618" y="2332220"/>
            <a:ext cx="8305337" cy="6926080"/>
          </a:xfrm>
          <a:custGeom>
            <a:avLst/>
            <a:gdLst/>
            <a:ahLst/>
            <a:cxnLst/>
            <a:rect r="r" b="b" t="t" l="l"/>
            <a:pathLst>
              <a:path h="6926080" w="8305337">
                <a:moveTo>
                  <a:pt x="0" y="0"/>
                </a:moveTo>
                <a:lnTo>
                  <a:pt x="8305337" y="0"/>
                </a:lnTo>
                <a:lnTo>
                  <a:pt x="8305337" y="6926080"/>
                </a:lnTo>
                <a:lnTo>
                  <a:pt x="0" y="69260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1004" t="0" r="-24559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303129" y="1096303"/>
            <a:ext cx="14668497" cy="553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02"/>
              </a:lnSpc>
            </a:pPr>
            <a:r>
              <a:rPr lang="en-US" b="true" sz="4654" spc="-167">
                <a:solidFill>
                  <a:srgbClr val="3272B4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A ORIGEM DO PHP: COMO TUDO COMEÇOU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77898" y="2696607"/>
            <a:ext cx="6588285" cy="754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9"/>
              </a:lnSpc>
              <a:spcBef>
                <a:spcPct val="0"/>
              </a:spcBef>
            </a:pPr>
            <a:r>
              <a:rPr lang="en-US" b="true" sz="2163">
                <a:solidFill>
                  <a:srgbClr val="3272B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Criador e Ano: </a:t>
            </a:r>
            <a:r>
              <a:rPr lang="en-US" sz="2163">
                <a:solidFill>
                  <a:srgbClr val="0A121D"/>
                </a:solidFill>
                <a:latin typeface="Montserrat"/>
                <a:ea typeface="Montserrat"/>
                <a:cs typeface="Montserrat"/>
                <a:sym typeface="Montserrat"/>
              </a:rPr>
              <a:t>Criado por Rasmus Lerdorf em 1994.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77898" y="4094886"/>
            <a:ext cx="7376939" cy="1136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0"/>
              </a:lnSpc>
              <a:spcBef>
                <a:spcPct val="0"/>
              </a:spcBef>
            </a:pPr>
            <a:r>
              <a:rPr lang="en-US" b="true" sz="2150">
                <a:solidFill>
                  <a:srgbClr val="3272B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 Início:</a:t>
            </a:r>
            <a:r>
              <a:rPr lang="en-US" b="true" sz="215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2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Nasceu como um conjunto de scripts simples em C para monitorar as visitas da página pessoal de Rasmus.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77898" y="5874518"/>
            <a:ext cx="6588285" cy="1136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0"/>
              </a:lnSpc>
              <a:spcBef>
                <a:spcPct val="0"/>
              </a:spcBef>
            </a:pPr>
            <a:r>
              <a:rPr lang="en-US" b="true" sz="2150">
                <a:solidFill>
                  <a:srgbClr val="3272B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 Primeiro Nome:</a:t>
            </a:r>
            <a:r>
              <a:rPr lang="en-US" b="true" sz="215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2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Significava originalmente Personal Home Page Tools (Ferramentas de Página Inicial Pessoal).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77898" y="7658233"/>
            <a:ext cx="6722274" cy="1517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0"/>
              </a:lnSpc>
              <a:spcBef>
                <a:spcPct val="0"/>
              </a:spcBef>
            </a:pPr>
            <a:r>
              <a:rPr lang="en-US" b="true" sz="2150">
                <a:solidFill>
                  <a:srgbClr val="3272B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 Evolução:</a:t>
            </a:r>
            <a:r>
              <a:rPr lang="en-US" sz="2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Com o sucesso e a ajuda da comunidade, a linguagem mudou de foco e hoje o nome é um acrônimo recursivo para PHP: Hypertext Preprocessor.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92084" y="9564200"/>
            <a:ext cx="7368254" cy="264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6C757D"/>
                </a:solidFill>
                <a:latin typeface="Montserrat"/>
                <a:ea typeface="Montserrat"/>
                <a:cs typeface="Montserrat"/>
                <a:sym typeface="Montserrat"/>
              </a:rPr>
              <a:t>Fonte: PHP Official Documentation (php.net/manual/pt_BR/history.php)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827555" y="9446375"/>
            <a:ext cx="1751464" cy="264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6C757D"/>
                </a:solidFill>
                <a:latin typeface="Montserrat"/>
                <a:ea typeface="Montserrat"/>
                <a:cs typeface="Montserrat"/>
                <a:sym typeface="Montserrat"/>
              </a:rPr>
              <a:t>Rasmus Lerdorf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449717" y="7045787"/>
            <a:ext cx="3307798" cy="2546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8224"/>
              </a:lnSpc>
            </a:pPr>
            <a:r>
              <a:rPr lang="en-US" b="true" sz="21191">
                <a:solidFill>
                  <a:srgbClr val="FFFFFF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639463" y="0"/>
            <a:ext cx="2507093" cy="373785"/>
          </a:xfrm>
          <a:custGeom>
            <a:avLst/>
            <a:gdLst/>
            <a:ahLst/>
            <a:cxnLst/>
            <a:rect r="r" b="b" t="t" l="l"/>
            <a:pathLst>
              <a:path h="373785" w="2507093">
                <a:moveTo>
                  <a:pt x="0" y="0"/>
                </a:moveTo>
                <a:lnTo>
                  <a:pt x="2507093" y="0"/>
                </a:lnTo>
                <a:lnTo>
                  <a:pt x="2507093" y="373785"/>
                </a:lnTo>
                <a:lnTo>
                  <a:pt x="0" y="3737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72097" y="6247898"/>
            <a:ext cx="21694666" cy="5448896"/>
            <a:chOff x="0" y="0"/>
            <a:chExt cx="5713821" cy="14351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713821" cy="1435100"/>
            </a:xfrm>
            <a:custGeom>
              <a:avLst/>
              <a:gdLst/>
              <a:ahLst/>
              <a:cxnLst/>
              <a:rect r="r" b="b" t="t" l="l"/>
              <a:pathLst>
                <a:path h="1435100" w="5713821">
                  <a:moveTo>
                    <a:pt x="0" y="0"/>
                  </a:moveTo>
                  <a:lnTo>
                    <a:pt x="5713821" y="0"/>
                  </a:lnTo>
                  <a:lnTo>
                    <a:pt x="5713821" y="1435100"/>
                  </a:lnTo>
                  <a:lnTo>
                    <a:pt x="0" y="1435100"/>
                  </a:lnTo>
                  <a:close/>
                </a:path>
              </a:pathLst>
            </a:custGeom>
            <a:solidFill>
              <a:srgbClr val="3272B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38100"/>
              <a:ext cx="5713821" cy="1397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4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3297236" y="2686401"/>
            <a:ext cx="11693527" cy="7122994"/>
          </a:xfrm>
          <a:custGeom>
            <a:avLst/>
            <a:gdLst/>
            <a:ahLst/>
            <a:cxnLst/>
            <a:rect r="r" b="b" t="t" l="l"/>
            <a:pathLst>
              <a:path h="7122994" w="11693527">
                <a:moveTo>
                  <a:pt x="0" y="0"/>
                </a:moveTo>
                <a:lnTo>
                  <a:pt x="11693528" y="0"/>
                </a:lnTo>
                <a:lnTo>
                  <a:pt x="11693528" y="7122994"/>
                </a:lnTo>
                <a:lnTo>
                  <a:pt x="0" y="71229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6727" t="-182" r="0" b="-182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639463" y="642591"/>
            <a:ext cx="11009075" cy="2043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96"/>
              </a:lnSpc>
            </a:pPr>
            <a:r>
              <a:rPr lang="en-US" b="true" sz="8949" spc="-322">
                <a:solidFill>
                  <a:srgbClr val="3272B4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HISTÓRICO DE VERSIONAMENTO DO PHP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990336" y="8157649"/>
            <a:ext cx="3297664" cy="2527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8169"/>
              </a:lnSpc>
            </a:pPr>
            <a:r>
              <a:rPr lang="en-US" b="true" sz="21126">
                <a:solidFill>
                  <a:srgbClr val="FFFFFF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804858" y="1028700"/>
            <a:ext cx="6454442" cy="4362456"/>
            <a:chOff x="0" y="0"/>
            <a:chExt cx="999962" cy="6758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99962" cy="675859"/>
            </a:xfrm>
            <a:custGeom>
              <a:avLst/>
              <a:gdLst/>
              <a:ahLst/>
              <a:cxnLst/>
              <a:rect r="r" b="b" t="t" l="l"/>
              <a:pathLst>
                <a:path h="675859" w="999962">
                  <a:moveTo>
                    <a:pt x="0" y="0"/>
                  </a:moveTo>
                  <a:lnTo>
                    <a:pt x="999962" y="0"/>
                  </a:lnTo>
                  <a:lnTo>
                    <a:pt x="999962" y="675859"/>
                  </a:lnTo>
                  <a:lnTo>
                    <a:pt x="0" y="675859"/>
                  </a:lnTo>
                  <a:close/>
                </a:path>
              </a:pathLst>
            </a:custGeom>
            <a:blipFill>
              <a:blip r:embed="rId2"/>
              <a:stretch>
                <a:fillRect l="0" t="-2801" r="0" b="-280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032079" y="5640890"/>
            <a:ext cx="3227221" cy="3617410"/>
            <a:chOff x="0" y="0"/>
            <a:chExt cx="499981" cy="56043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99981" cy="560431"/>
            </a:xfrm>
            <a:custGeom>
              <a:avLst/>
              <a:gdLst/>
              <a:ahLst/>
              <a:cxnLst/>
              <a:rect r="r" b="b" t="t" l="l"/>
              <a:pathLst>
                <a:path h="560431" w="499981">
                  <a:moveTo>
                    <a:pt x="0" y="0"/>
                  </a:moveTo>
                  <a:lnTo>
                    <a:pt x="499981" y="0"/>
                  </a:lnTo>
                  <a:lnTo>
                    <a:pt x="499981" y="560431"/>
                  </a:lnTo>
                  <a:lnTo>
                    <a:pt x="0" y="560431"/>
                  </a:lnTo>
                  <a:close/>
                </a:path>
              </a:pathLst>
            </a:custGeom>
            <a:blipFill>
              <a:blip r:embed="rId3"/>
              <a:stretch>
                <a:fillRect l="-6045" t="0" r="-6045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028700" y="1248805"/>
            <a:ext cx="2507093" cy="373785"/>
          </a:xfrm>
          <a:custGeom>
            <a:avLst/>
            <a:gdLst/>
            <a:ahLst/>
            <a:cxnLst/>
            <a:rect r="r" b="b" t="t" l="l"/>
            <a:pathLst>
              <a:path h="373785" w="2507093">
                <a:moveTo>
                  <a:pt x="0" y="0"/>
                </a:moveTo>
                <a:lnTo>
                  <a:pt x="2507093" y="0"/>
                </a:lnTo>
                <a:lnTo>
                  <a:pt x="2507093" y="373784"/>
                </a:lnTo>
                <a:lnTo>
                  <a:pt x="0" y="3737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804858" y="5640890"/>
            <a:ext cx="2944186" cy="3617410"/>
            <a:chOff x="0" y="0"/>
            <a:chExt cx="775424" cy="95273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75424" cy="952733"/>
            </a:xfrm>
            <a:custGeom>
              <a:avLst/>
              <a:gdLst/>
              <a:ahLst/>
              <a:cxnLst/>
              <a:rect r="r" b="b" t="t" l="l"/>
              <a:pathLst>
                <a:path h="952733" w="775424">
                  <a:moveTo>
                    <a:pt x="0" y="0"/>
                  </a:moveTo>
                  <a:lnTo>
                    <a:pt x="775424" y="0"/>
                  </a:lnTo>
                  <a:lnTo>
                    <a:pt x="775424" y="952733"/>
                  </a:lnTo>
                  <a:lnTo>
                    <a:pt x="0" y="952733"/>
                  </a:lnTo>
                  <a:close/>
                </a:path>
              </a:pathLst>
            </a:custGeom>
            <a:solidFill>
              <a:srgbClr val="EAF3FE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38100"/>
              <a:ext cx="775424" cy="9146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4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0872569" y="5747313"/>
            <a:ext cx="2808765" cy="3404564"/>
          </a:xfrm>
          <a:custGeom>
            <a:avLst/>
            <a:gdLst/>
            <a:ahLst/>
            <a:cxnLst/>
            <a:rect r="r" b="b" t="t" l="l"/>
            <a:pathLst>
              <a:path h="3404564" w="2808765">
                <a:moveTo>
                  <a:pt x="0" y="0"/>
                </a:moveTo>
                <a:lnTo>
                  <a:pt x="2808765" y="0"/>
                </a:lnTo>
                <a:lnTo>
                  <a:pt x="2808765" y="3404564"/>
                </a:lnTo>
                <a:lnTo>
                  <a:pt x="0" y="340456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28700" y="2065101"/>
            <a:ext cx="6400054" cy="2053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00"/>
              </a:lnSpc>
            </a:pPr>
            <a:r>
              <a:rPr lang="en-US" b="true" sz="8953" spc="-322">
                <a:solidFill>
                  <a:srgbClr val="3272B4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ÁREAS DE APLICAÇÃO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281610" y="1068590"/>
            <a:ext cx="1977690" cy="1517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0896"/>
              </a:lnSpc>
            </a:pPr>
            <a:r>
              <a:rPr lang="en-US" b="true" sz="12670">
                <a:solidFill>
                  <a:srgbClr val="FFFFFF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03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4232904"/>
            <a:ext cx="8115300" cy="3489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500"/>
              </a:lnSpc>
              <a:spcBef>
                <a:spcPct val="0"/>
              </a:spcBef>
            </a:pPr>
            <a:r>
              <a:rPr lang="en-US" b="true" sz="2500">
                <a:solidFill>
                  <a:srgbClr val="013F6F"/>
                </a:solidFill>
                <a:latin typeface="Barlow SemiCondensed Medium"/>
                <a:ea typeface="Barlow SemiCondensed Medium"/>
                <a:cs typeface="Barlow SemiCondensed Medium"/>
                <a:sym typeface="Barlow SemiCondensed Medium"/>
              </a:rPr>
              <a:t>PHP é uma linguagem muito usada no desenvolvimento back-end de aplicações web. No mercado, ele aparece principalmente em sites dinâmicos, CMS, lojas virtuais, sistemas internos e APIs, com forte presença em plataformas como WordPress, Laravel, Drupal, Magento e WooCommerce. Sua relevância continua alta porque grande parte da web ainda roda com PHP, especialmente em projetos reais de conteúdo, e-commerce e aplicações corporativas.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8165465"/>
            <a:ext cx="8391971" cy="1092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6C757D"/>
                </a:solidFill>
                <a:latin typeface="Montserrat"/>
                <a:ea typeface="Montserrat"/>
                <a:cs typeface="Montserrat"/>
                <a:sym typeface="Montserrat"/>
              </a:rPr>
              <a:t>Fontes: </a:t>
            </a:r>
          </a:p>
          <a:p>
            <a:pPr algn="l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sz="1599">
                <a:solidFill>
                  <a:srgbClr val="6C757D"/>
                </a:solidFill>
                <a:latin typeface="Montserrat"/>
                <a:ea typeface="Montserrat"/>
                <a:cs typeface="Montserrat"/>
                <a:sym typeface="Montserrat"/>
              </a:rPr>
              <a:t>W3Techs - PHP usage (w3techs.com/technologies/details/pl-php)</a:t>
            </a:r>
          </a:p>
          <a:p>
            <a:pPr algn="l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sz="1599">
                <a:solidFill>
                  <a:srgbClr val="6C757D"/>
                </a:solidFill>
                <a:latin typeface="Montserrat"/>
                <a:ea typeface="Montserrat"/>
                <a:cs typeface="Montserrat"/>
                <a:sym typeface="Montserrat"/>
              </a:rPr>
              <a:t>W3Techs - WordPress Usage (w3techs.com/technologies/details/cm-wordpress)</a:t>
            </a:r>
          </a:p>
          <a:p>
            <a:pPr algn="l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sz="1599">
                <a:solidFill>
                  <a:srgbClr val="6C757D"/>
                </a:solidFill>
                <a:latin typeface="Montserrat"/>
                <a:ea typeface="Montserrat"/>
                <a:cs typeface="Montserrat"/>
                <a:sym typeface="Montserrat"/>
              </a:rPr>
              <a:t>Laravel (laravel.com)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97730" y="1028700"/>
            <a:ext cx="117901" cy="989502"/>
            <a:chOff x="0" y="0"/>
            <a:chExt cx="31052" cy="2606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052" cy="260610"/>
            </a:xfrm>
            <a:custGeom>
              <a:avLst/>
              <a:gdLst/>
              <a:ahLst/>
              <a:cxnLst/>
              <a:rect r="r" b="b" t="t" l="l"/>
              <a:pathLst>
                <a:path h="260610" w="31052">
                  <a:moveTo>
                    <a:pt x="0" y="0"/>
                  </a:moveTo>
                  <a:lnTo>
                    <a:pt x="31052" y="0"/>
                  </a:lnTo>
                  <a:lnTo>
                    <a:pt x="31052" y="260610"/>
                  </a:lnTo>
                  <a:lnTo>
                    <a:pt x="0" y="260610"/>
                  </a:lnTo>
                  <a:close/>
                </a:path>
              </a:pathLst>
            </a:custGeom>
            <a:solidFill>
              <a:srgbClr val="3272B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38100"/>
              <a:ext cx="31052" cy="2225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4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2391354"/>
            <a:ext cx="4762500" cy="6866946"/>
            <a:chOff x="0" y="0"/>
            <a:chExt cx="1254321" cy="180857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54321" cy="1808578"/>
            </a:xfrm>
            <a:custGeom>
              <a:avLst/>
              <a:gdLst/>
              <a:ahLst/>
              <a:cxnLst/>
              <a:rect r="r" b="b" t="t" l="l"/>
              <a:pathLst>
                <a:path h="1808578" w="1254321">
                  <a:moveTo>
                    <a:pt x="82906" y="0"/>
                  </a:moveTo>
                  <a:lnTo>
                    <a:pt x="1171415" y="0"/>
                  </a:lnTo>
                  <a:cubicBezTo>
                    <a:pt x="1193403" y="0"/>
                    <a:pt x="1214491" y="8735"/>
                    <a:pt x="1230038" y="24282"/>
                  </a:cubicBezTo>
                  <a:cubicBezTo>
                    <a:pt x="1245586" y="39830"/>
                    <a:pt x="1254321" y="60918"/>
                    <a:pt x="1254321" y="82906"/>
                  </a:cubicBezTo>
                  <a:lnTo>
                    <a:pt x="1254321" y="1725673"/>
                  </a:lnTo>
                  <a:cubicBezTo>
                    <a:pt x="1254321" y="1771460"/>
                    <a:pt x="1217203" y="1808578"/>
                    <a:pt x="1171415" y="1808578"/>
                  </a:cubicBezTo>
                  <a:lnTo>
                    <a:pt x="82906" y="1808578"/>
                  </a:lnTo>
                  <a:cubicBezTo>
                    <a:pt x="60918" y="1808578"/>
                    <a:pt x="39830" y="1799843"/>
                    <a:pt x="24282" y="1784296"/>
                  </a:cubicBezTo>
                  <a:cubicBezTo>
                    <a:pt x="8735" y="1768748"/>
                    <a:pt x="0" y="1747661"/>
                    <a:pt x="0" y="1725673"/>
                  </a:cubicBezTo>
                  <a:lnTo>
                    <a:pt x="0" y="82906"/>
                  </a:lnTo>
                  <a:cubicBezTo>
                    <a:pt x="0" y="37118"/>
                    <a:pt x="37118" y="0"/>
                    <a:pt x="82906" y="0"/>
                  </a:cubicBezTo>
                  <a:close/>
                </a:path>
              </a:pathLst>
            </a:custGeom>
            <a:solidFill>
              <a:srgbClr val="F4F7F9"/>
            </a:solidFill>
            <a:ln w="19050" cap="rnd">
              <a:solidFill>
                <a:srgbClr val="E2E8F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38100"/>
              <a:ext cx="1254321" cy="17704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4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762750" y="2391354"/>
            <a:ext cx="4762500" cy="6866946"/>
            <a:chOff x="0" y="0"/>
            <a:chExt cx="1254321" cy="18085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54321" cy="1808578"/>
            </a:xfrm>
            <a:custGeom>
              <a:avLst/>
              <a:gdLst/>
              <a:ahLst/>
              <a:cxnLst/>
              <a:rect r="r" b="b" t="t" l="l"/>
              <a:pathLst>
                <a:path h="1808578" w="1254321">
                  <a:moveTo>
                    <a:pt x="82906" y="0"/>
                  </a:moveTo>
                  <a:lnTo>
                    <a:pt x="1171415" y="0"/>
                  </a:lnTo>
                  <a:cubicBezTo>
                    <a:pt x="1193403" y="0"/>
                    <a:pt x="1214491" y="8735"/>
                    <a:pt x="1230038" y="24282"/>
                  </a:cubicBezTo>
                  <a:cubicBezTo>
                    <a:pt x="1245586" y="39830"/>
                    <a:pt x="1254321" y="60918"/>
                    <a:pt x="1254321" y="82906"/>
                  </a:cubicBezTo>
                  <a:lnTo>
                    <a:pt x="1254321" y="1725673"/>
                  </a:lnTo>
                  <a:cubicBezTo>
                    <a:pt x="1254321" y="1771460"/>
                    <a:pt x="1217203" y="1808578"/>
                    <a:pt x="1171415" y="1808578"/>
                  </a:cubicBezTo>
                  <a:lnTo>
                    <a:pt x="82906" y="1808578"/>
                  </a:lnTo>
                  <a:cubicBezTo>
                    <a:pt x="60918" y="1808578"/>
                    <a:pt x="39830" y="1799843"/>
                    <a:pt x="24282" y="1784296"/>
                  </a:cubicBezTo>
                  <a:cubicBezTo>
                    <a:pt x="8735" y="1768748"/>
                    <a:pt x="0" y="1747661"/>
                    <a:pt x="0" y="1725673"/>
                  </a:cubicBezTo>
                  <a:lnTo>
                    <a:pt x="0" y="82906"/>
                  </a:lnTo>
                  <a:cubicBezTo>
                    <a:pt x="0" y="37118"/>
                    <a:pt x="37118" y="0"/>
                    <a:pt x="82906" y="0"/>
                  </a:cubicBezTo>
                  <a:close/>
                </a:path>
              </a:pathLst>
            </a:custGeom>
            <a:solidFill>
              <a:srgbClr val="F4F7F9"/>
            </a:solidFill>
            <a:ln w="19050" cap="rnd">
              <a:solidFill>
                <a:srgbClr val="E2E8F0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38100"/>
              <a:ext cx="1254321" cy="17704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4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496800" y="2391354"/>
            <a:ext cx="4762500" cy="6866946"/>
            <a:chOff x="0" y="0"/>
            <a:chExt cx="1254321" cy="18085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54321" cy="1808578"/>
            </a:xfrm>
            <a:custGeom>
              <a:avLst/>
              <a:gdLst/>
              <a:ahLst/>
              <a:cxnLst/>
              <a:rect r="r" b="b" t="t" l="l"/>
              <a:pathLst>
                <a:path h="1808578" w="1254321">
                  <a:moveTo>
                    <a:pt x="82906" y="0"/>
                  </a:moveTo>
                  <a:lnTo>
                    <a:pt x="1171415" y="0"/>
                  </a:lnTo>
                  <a:cubicBezTo>
                    <a:pt x="1193403" y="0"/>
                    <a:pt x="1214491" y="8735"/>
                    <a:pt x="1230038" y="24282"/>
                  </a:cubicBezTo>
                  <a:cubicBezTo>
                    <a:pt x="1245586" y="39830"/>
                    <a:pt x="1254321" y="60918"/>
                    <a:pt x="1254321" y="82906"/>
                  </a:cubicBezTo>
                  <a:lnTo>
                    <a:pt x="1254321" y="1725673"/>
                  </a:lnTo>
                  <a:cubicBezTo>
                    <a:pt x="1254321" y="1771460"/>
                    <a:pt x="1217203" y="1808578"/>
                    <a:pt x="1171415" y="1808578"/>
                  </a:cubicBezTo>
                  <a:lnTo>
                    <a:pt x="82906" y="1808578"/>
                  </a:lnTo>
                  <a:cubicBezTo>
                    <a:pt x="60918" y="1808578"/>
                    <a:pt x="39830" y="1799843"/>
                    <a:pt x="24282" y="1784296"/>
                  </a:cubicBezTo>
                  <a:cubicBezTo>
                    <a:pt x="8735" y="1768748"/>
                    <a:pt x="0" y="1747661"/>
                    <a:pt x="0" y="1725673"/>
                  </a:cubicBezTo>
                  <a:lnTo>
                    <a:pt x="0" y="82906"/>
                  </a:lnTo>
                  <a:cubicBezTo>
                    <a:pt x="0" y="37118"/>
                    <a:pt x="37118" y="0"/>
                    <a:pt x="82906" y="0"/>
                  </a:cubicBezTo>
                  <a:close/>
                </a:path>
              </a:pathLst>
            </a:custGeom>
            <a:solidFill>
              <a:srgbClr val="F4F7F9"/>
            </a:solidFill>
            <a:ln w="19050" cap="rnd">
              <a:solidFill>
                <a:srgbClr val="E2E8F0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38100"/>
              <a:ext cx="1254321" cy="17704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4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6918008" y="3224509"/>
            <a:ext cx="4451985" cy="3622803"/>
          </a:xfrm>
          <a:custGeom>
            <a:avLst/>
            <a:gdLst/>
            <a:ahLst/>
            <a:cxnLst/>
            <a:rect r="r" b="b" t="t" l="l"/>
            <a:pathLst>
              <a:path h="3622803" w="4451985">
                <a:moveTo>
                  <a:pt x="0" y="0"/>
                </a:moveTo>
                <a:lnTo>
                  <a:pt x="4451985" y="0"/>
                </a:lnTo>
                <a:lnTo>
                  <a:pt x="4451985" y="3622803"/>
                </a:lnTo>
                <a:lnTo>
                  <a:pt x="0" y="36228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363169" y="3224509"/>
            <a:ext cx="4093562" cy="3622803"/>
          </a:xfrm>
          <a:custGeom>
            <a:avLst/>
            <a:gdLst/>
            <a:ahLst/>
            <a:cxnLst/>
            <a:rect r="r" b="b" t="t" l="l"/>
            <a:pathLst>
              <a:path h="3622803" w="4093562">
                <a:moveTo>
                  <a:pt x="0" y="0"/>
                </a:moveTo>
                <a:lnTo>
                  <a:pt x="4093562" y="0"/>
                </a:lnTo>
                <a:lnTo>
                  <a:pt x="4093562" y="3622803"/>
                </a:lnTo>
                <a:lnTo>
                  <a:pt x="0" y="36228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2831269" y="3224509"/>
            <a:ext cx="4093562" cy="3622803"/>
          </a:xfrm>
          <a:custGeom>
            <a:avLst/>
            <a:gdLst/>
            <a:ahLst/>
            <a:cxnLst/>
            <a:rect r="r" b="b" t="t" l="l"/>
            <a:pathLst>
              <a:path h="3622803" w="4093562">
                <a:moveTo>
                  <a:pt x="0" y="0"/>
                </a:moveTo>
                <a:lnTo>
                  <a:pt x="4093562" y="0"/>
                </a:lnTo>
                <a:lnTo>
                  <a:pt x="4093562" y="3622803"/>
                </a:lnTo>
                <a:lnTo>
                  <a:pt x="0" y="36228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596814" y="1024548"/>
            <a:ext cx="13623816" cy="902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67"/>
              </a:lnSpc>
              <a:spcBef>
                <a:spcPct val="0"/>
              </a:spcBef>
            </a:pPr>
            <a:r>
              <a:rPr lang="en-US" b="true" sz="5333" spc="-192">
                <a:solidFill>
                  <a:srgbClr val="3272B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EXEM</a:t>
            </a:r>
            <a:r>
              <a:rPr lang="en-US" b="true" sz="5333" spc="-192">
                <a:solidFill>
                  <a:srgbClr val="3272B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PLOS REAIS DE PROJETOS EM PHP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353121" y="2667727"/>
            <a:ext cx="2113657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2E3F4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E-comm</a:t>
            </a:r>
            <a:r>
              <a:rPr lang="en-US" b="true" sz="2499">
                <a:solidFill>
                  <a:srgbClr val="2E3F4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erce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97730" y="7018224"/>
            <a:ext cx="4141638" cy="1762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94"/>
              </a:lnSpc>
            </a:pPr>
            <a:r>
              <a:rPr lang="en-US" b="true" sz="1997">
                <a:solidFill>
                  <a:srgbClr val="657179"/>
                </a:solidFill>
                <a:latin typeface="Roboto Bold"/>
                <a:ea typeface="Roboto Bold"/>
                <a:cs typeface="Roboto Bold"/>
                <a:sym typeface="Roboto Bold"/>
              </a:rPr>
              <a:t>Nike / Coca-Cola / Ford em implementações com Magento, uma plataforma de e-commerce baseada em PHP.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570068" y="2667727"/>
            <a:ext cx="3147864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2E3F4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Portais </a:t>
            </a:r>
            <a:r>
              <a:rPr lang="en-US" b="true" sz="2499">
                <a:solidFill>
                  <a:srgbClr val="2E3F4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 conteúdo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073265" y="7008699"/>
            <a:ext cx="4141470" cy="2266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00"/>
              </a:lnSpc>
            </a:pPr>
            <a:r>
              <a:rPr lang="en-US" sz="2000" b="true">
                <a:solidFill>
                  <a:srgbClr val="657179"/>
                </a:solidFill>
                <a:latin typeface="Roboto Bold"/>
                <a:ea typeface="Roboto Bold"/>
                <a:cs typeface="Roboto Bold"/>
                <a:sym typeface="Roboto Bold"/>
              </a:rPr>
              <a:t>The Economist, WhiteHouse.gov e outros casos famosos associados ao ecossistema Drupal, também baseado em PHP.</a:t>
            </a:r>
          </a:p>
          <a:p>
            <a:pPr algn="just">
              <a:lnSpc>
                <a:spcPts val="3600"/>
              </a:lnSpc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13576622" y="2667727"/>
            <a:ext cx="2602855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2E3F4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</a:t>
            </a:r>
            <a:r>
              <a:rPr lang="en-US" b="true" sz="2499">
                <a:solidFill>
                  <a:srgbClr val="2E3F4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plicações web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807315" y="7008699"/>
            <a:ext cx="4141470" cy="1809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00"/>
              </a:lnSpc>
            </a:pPr>
            <a:r>
              <a:rPr lang="en-US" b="true" sz="2000">
                <a:solidFill>
                  <a:srgbClr val="657179"/>
                </a:solidFill>
                <a:latin typeface="Roboto Bold"/>
                <a:ea typeface="Roboto Bold"/>
                <a:cs typeface="Roboto Bold"/>
                <a:sym typeface="Roboto Bold"/>
              </a:rPr>
              <a:t>Sistemas modernos criados com Laravel, framework PHP usado para plataformas, painéis, APIs e aplicações corporativas.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28700" y="9389949"/>
            <a:ext cx="6952059" cy="681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9"/>
              </a:lnSpc>
            </a:pPr>
            <a:r>
              <a:rPr lang="en-US" sz="1313">
                <a:solidFill>
                  <a:srgbClr val="6C757D"/>
                </a:solidFill>
                <a:latin typeface="Montserrat"/>
                <a:ea typeface="Montserrat"/>
                <a:cs typeface="Montserrat"/>
                <a:sym typeface="Montserrat"/>
              </a:rPr>
              <a:t>Fontes:  </a:t>
            </a:r>
          </a:p>
          <a:p>
            <a:pPr algn="l" marL="283618" indent="-141809" lvl="1">
              <a:lnSpc>
                <a:spcPts val="1839"/>
              </a:lnSpc>
              <a:buFont typeface="Arial"/>
              <a:buChar char="•"/>
            </a:pPr>
            <a:r>
              <a:rPr lang="en-US" sz="1313">
                <a:solidFill>
                  <a:srgbClr val="6C757D"/>
                </a:solidFill>
                <a:latin typeface="Montserrat"/>
                <a:ea typeface="Montserrat"/>
                <a:cs typeface="Montserrat"/>
                <a:sym typeface="Montserrat"/>
              </a:rPr>
              <a:t>rootstack.com/en/blog/top-10-businesses-using-magento-ecommerce-websites</a:t>
            </a:r>
          </a:p>
          <a:p>
            <a:pPr algn="l" marL="283618" indent="-141809" lvl="1">
              <a:lnSpc>
                <a:spcPts val="1839"/>
              </a:lnSpc>
              <a:buFont typeface="Arial"/>
              <a:buChar char="•"/>
            </a:pPr>
            <a:r>
              <a:rPr lang="en-US" sz="1313">
                <a:solidFill>
                  <a:srgbClr val="6C757D"/>
                </a:solidFill>
                <a:latin typeface="Montserrat"/>
                <a:ea typeface="Montserrat"/>
                <a:cs typeface="Montserrat"/>
                <a:sym typeface="Montserrat"/>
              </a:rPr>
              <a:t>vardot.com/en/ideas/blog/top-10-websites-built-drupal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7324662" y="9504249"/>
            <a:ext cx="939384" cy="845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070"/>
              </a:lnSpc>
            </a:pPr>
            <a:r>
              <a:rPr lang="en-US" b="true" sz="7058">
                <a:solidFill>
                  <a:srgbClr val="6CA7E6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03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248646"/>
            <a:ext cx="7964394" cy="8038354"/>
          </a:xfrm>
          <a:custGeom>
            <a:avLst/>
            <a:gdLst/>
            <a:ahLst/>
            <a:cxnLst/>
            <a:rect r="r" b="b" t="t" l="l"/>
            <a:pathLst>
              <a:path h="8038354" w="7964394">
                <a:moveTo>
                  <a:pt x="0" y="0"/>
                </a:moveTo>
                <a:lnTo>
                  <a:pt x="7964394" y="0"/>
                </a:lnTo>
                <a:lnTo>
                  <a:pt x="7964394" y="8038354"/>
                </a:lnTo>
                <a:lnTo>
                  <a:pt x="0" y="80383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159" t="-1433" r="0" b="-128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427686" y="2248646"/>
            <a:ext cx="7831614" cy="7818950"/>
          </a:xfrm>
          <a:custGeom>
            <a:avLst/>
            <a:gdLst/>
            <a:ahLst/>
            <a:cxnLst/>
            <a:rect r="r" b="b" t="t" l="l"/>
            <a:pathLst>
              <a:path h="7818950" w="7831614">
                <a:moveTo>
                  <a:pt x="0" y="0"/>
                </a:moveTo>
                <a:lnTo>
                  <a:pt x="7831614" y="0"/>
                </a:lnTo>
                <a:lnTo>
                  <a:pt x="7831614" y="7818950"/>
                </a:lnTo>
                <a:lnTo>
                  <a:pt x="0" y="78189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324" t="-1995" r="-6124" b="-3317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987885"/>
            <a:ext cx="11304341" cy="1081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00"/>
              </a:lnSpc>
            </a:pPr>
            <a:r>
              <a:rPr lang="en-US" b="true" sz="8953" spc="-322">
                <a:solidFill>
                  <a:srgbClr val="3272B4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EXEMPLOS DE CÓDIGO PHP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280902" y="793980"/>
            <a:ext cx="1679448" cy="1631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1703"/>
              </a:lnSpc>
            </a:pPr>
            <a:r>
              <a:rPr lang="en-US" b="true" sz="13608">
                <a:solidFill>
                  <a:srgbClr val="6CA7E6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07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266097" y="2069838"/>
            <a:ext cx="7755805" cy="8048361"/>
          </a:xfrm>
          <a:custGeom>
            <a:avLst/>
            <a:gdLst/>
            <a:ahLst/>
            <a:cxnLst/>
            <a:rect r="r" b="b" t="t" l="l"/>
            <a:pathLst>
              <a:path h="8048361" w="7755805">
                <a:moveTo>
                  <a:pt x="0" y="0"/>
                </a:moveTo>
                <a:lnTo>
                  <a:pt x="7755806" y="0"/>
                </a:lnTo>
                <a:lnTo>
                  <a:pt x="7755806" y="8048361"/>
                </a:lnTo>
                <a:lnTo>
                  <a:pt x="0" y="80483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39" r="0" b="-624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491830" y="987885"/>
            <a:ext cx="11304341" cy="1081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00"/>
              </a:lnSpc>
            </a:pPr>
            <a:r>
              <a:rPr lang="en-US" b="true" sz="8953" spc="-322">
                <a:solidFill>
                  <a:srgbClr val="3272B4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EXEMPLOS DE CÓDIGO PHP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104409" y="793980"/>
            <a:ext cx="1855942" cy="1631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1703"/>
              </a:lnSpc>
            </a:pPr>
            <a:r>
              <a:rPr lang="en-US" b="true" sz="13608">
                <a:solidFill>
                  <a:srgbClr val="6CA7E6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08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97730" y="1028700"/>
            <a:ext cx="117901" cy="989502"/>
            <a:chOff x="0" y="0"/>
            <a:chExt cx="31052" cy="2606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052" cy="260610"/>
            </a:xfrm>
            <a:custGeom>
              <a:avLst/>
              <a:gdLst/>
              <a:ahLst/>
              <a:cxnLst/>
              <a:rect r="r" b="b" t="t" l="l"/>
              <a:pathLst>
                <a:path h="260610" w="31052">
                  <a:moveTo>
                    <a:pt x="0" y="0"/>
                  </a:moveTo>
                  <a:lnTo>
                    <a:pt x="31052" y="0"/>
                  </a:lnTo>
                  <a:lnTo>
                    <a:pt x="31052" y="260610"/>
                  </a:lnTo>
                  <a:lnTo>
                    <a:pt x="0" y="260610"/>
                  </a:lnTo>
                  <a:close/>
                </a:path>
              </a:pathLst>
            </a:custGeom>
            <a:solidFill>
              <a:srgbClr val="3272B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38100"/>
              <a:ext cx="31052" cy="2225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4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834780" y="3542451"/>
            <a:ext cx="4619656" cy="3969233"/>
            <a:chOff x="0" y="0"/>
            <a:chExt cx="1216700" cy="104539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16700" cy="1045395"/>
            </a:xfrm>
            <a:custGeom>
              <a:avLst/>
              <a:gdLst/>
              <a:ahLst/>
              <a:cxnLst/>
              <a:rect r="r" b="b" t="t" l="l"/>
              <a:pathLst>
                <a:path h="1045395" w="1216700">
                  <a:moveTo>
                    <a:pt x="85469" y="0"/>
                  </a:moveTo>
                  <a:lnTo>
                    <a:pt x="1131231" y="0"/>
                  </a:lnTo>
                  <a:cubicBezTo>
                    <a:pt x="1178434" y="0"/>
                    <a:pt x="1216700" y="38266"/>
                    <a:pt x="1216700" y="85469"/>
                  </a:cubicBezTo>
                  <a:lnTo>
                    <a:pt x="1216700" y="959926"/>
                  </a:lnTo>
                  <a:cubicBezTo>
                    <a:pt x="1216700" y="982593"/>
                    <a:pt x="1207695" y="1004333"/>
                    <a:pt x="1191666" y="1020361"/>
                  </a:cubicBezTo>
                  <a:cubicBezTo>
                    <a:pt x="1175638" y="1036390"/>
                    <a:pt x="1153898" y="1045395"/>
                    <a:pt x="1131231" y="1045395"/>
                  </a:cubicBezTo>
                  <a:lnTo>
                    <a:pt x="85469" y="1045395"/>
                  </a:lnTo>
                  <a:cubicBezTo>
                    <a:pt x="38266" y="1045395"/>
                    <a:pt x="0" y="1007129"/>
                    <a:pt x="0" y="959926"/>
                  </a:cubicBezTo>
                  <a:lnTo>
                    <a:pt x="0" y="85469"/>
                  </a:lnTo>
                  <a:cubicBezTo>
                    <a:pt x="0" y="62801"/>
                    <a:pt x="9005" y="41062"/>
                    <a:pt x="25033" y="25033"/>
                  </a:cubicBezTo>
                  <a:cubicBezTo>
                    <a:pt x="41062" y="9005"/>
                    <a:pt x="62801" y="0"/>
                    <a:pt x="85469" y="0"/>
                  </a:cubicBezTo>
                  <a:close/>
                </a:path>
              </a:pathLst>
            </a:custGeom>
            <a:solidFill>
              <a:srgbClr val="F4F7F9"/>
            </a:solidFill>
            <a:ln w="19050" cap="rnd">
              <a:solidFill>
                <a:srgbClr val="E2E8F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38100"/>
              <a:ext cx="1216700" cy="10072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4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633637" y="1024548"/>
            <a:ext cx="11102269" cy="902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67"/>
              </a:lnSpc>
              <a:spcBef>
                <a:spcPct val="0"/>
              </a:spcBef>
            </a:pPr>
            <a:r>
              <a:rPr lang="en-US" b="true" sz="5333" spc="-192">
                <a:solidFill>
                  <a:srgbClr val="3272B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PRINCIPAIS VANTAGENS DO PHP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2253928" y="3542451"/>
            <a:ext cx="4619656" cy="3940365"/>
            <a:chOff x="0" y="0"/>
            <a:chExt cx="1216700" cy="103779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16700" cy="1037792"/>
            </a:xfrm>
            <a:custGeom>
              <a:avLst/>
              <a:gdLst/>
              <a:ahLst/>
              <a:cxnLst/>
              <a:rect r="r" b="b" t="t" l="l"/>
              <a:pathLst>
                <a:path h="1037792" w="1216700">
                  <a:moveTo>
                    <a:pt x="85469" y="0"/>
                  </a:moveTo>
                  <a:lnTo>
                    <a:pt x="1131231" y="0"/>
                  </a:lnTo>
                  <a:cubicBezTo>
                    <a:pt x="1178434" y="0"/>
                    <a:pt x="1216700" y="38266"/>
                    <a:pt x="1216700" y="85469"/>
                  </a:cubicBezTo>
                  <a:lnTo>
                    <a:pt x="1216700" y="952323"/>
                  </a:lnTo>
                  <a:cubicBezTo>
                    <a:pt x="1216700" y="974990"/>
                    <a:pt x="1207695" y="996730"/>
                    <a:pt x="1191666" y="1012758"/>
                  </a:cubicBezTo>
                  <a:cubicBezTo>
                    <a:pt x="1175638" y="1028787"/>
                    <a:pt x="1153898" y="1037792"/>
                    <a:pt x="1131231" y="1037792"/>
                  </a:cubicBezTo>
                  <a:lnTo>
                    <a:pt x="85469" y="1037792"/>
                  </a:lnTo>
                  <a:cubicBezTo>
                    <a:pt x="38266" y="1037792"/>
                    <a:pt x="0" y="999526"/>
                    <a:pt x="0" y="952323"/>
                  </a:cubicBezTo>
                  <a:lnTo>
                    <a:pt x="0" y="85469"/>
                  </a:lnTo>
                  <a:cubicBezTo>
                    <a:pt x="0" y="62801"/>
                    <a:pt x="9005" y="41062"/>
                    <a:pt x="25033" y="25033"/>
                  </a:cubicBezTo>
                  <a:cubicBezTo>
                    <a:pt x="41062" y="9005"/>
                    <a:pt x="62801" y="0"/>
                    <a:pt x="85469" y="0"/>
                  </a:cubicBezTo>
                  <a:close/>
                </a:path>
              </a:pathLst>
            </a:custGeom>
            <a:solidFill>
              <a:srgbClr val="F4F7F9"/>
            </a:solidFill>
            <a:ln w="19050" cap="rnd">
              <a:solidFill>
                <a:srgbClr val="E2E8F0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38100"/>
              <a:ext cx="1216700" cy="9996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4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15631" y="3542451"/>
            <a:ext cx="4619656" cy="3940365"/>
            <a:chOff x="0" y="0"/>
            <a:chExt cx="1216700" cy="103779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16700" cy="1037792"/>
            </a:xfrm>
            <a:custGeom>
              <a:avLst/>
              <a:gdLst/>
              <a:ahLst/>
              <a:cxnLst/>
              <a:rect r="r" b="b" t="t" l="l"/>
              <a:pathLst>
                <a:path h="1037792" w="1216700">
                  <a:moveTo>
                    <a:pt x="85469" y="0"/>
                  </a:moveTo>
                  <a:lnTo>
                    <a:pt x="1131231" y="0"/>
                  </a:lnTo>
                  <a:cubicBezTo>
                    <a:pt x="1178434" y="0"/>
                    <a:pt x="1216700" y="38266"/>
                    <a:pt x="1216700" y="85469"/>
                  </a:cubicBezTo>
                  <a:lnTo>
                    <a:pt x="1216700" y="952323"/>
                  </a:lnTo>
                  <a:cubicBezTo>
                    <a:pt x="1216700" y="974990"/>
                    <a:pt x="1207695" y="996730"/>
                    <a:pt x="1191666" y="1012758"/>
                  </a:cubicBezTo>
                  <a:cubicBezTo>
                    <a:pt x="1175638" y="1028787"/>
                    <a:pt x="1153898" y="1037792"/>
                    <a:pt x="1131231" y="1037792"/>
                  </a:cubicBezTo>
                  <a:lnTo>
                    <a:pt x="85469" y="1037792"/>
                  </a:lnTo>
                  <a:cubicBezTo>
                    <a:pt x="38266" y="1037792"/>
                    <a:pt x="0" y="999526"/>
                    <a:pt x="0" y="952323"/>
                  </a:cubicBezTo>
                  <a:lnTo>
                    <a:pt x="0" y="85469"/>
                  </a:lnTo>
                  <a:cubicBezTo>
                    <a:pt x="0" y="62801"/>
                    <a:pt x="9005" y="41062"/>
                    <a:pt x="25033" y="25033"/>
                  </a:cubicBezTo>
                  <a:cubicBezTo>
                    <a:pt x="41062" y="9005"/>
                    <a:pt x="62801" y="0"/>
                    <a:pt x="85469" y="0"/>
                  </a:cubicBezTo>
                  <a:close/>
                </a:path>
              </a:pathLst>
            </a:custGeom>
            <a:solidFill>
              <a:srgbClr val="F4F7F9"/>
            </a:solidFill>
            <a:ln w="19050" cap="rnd">
              <a:solidFill>
                <a:srgbClr val="E2E8F0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38100"/>
              <a:ext cx="1216700" cy="9996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4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7238324" y="4398307"/>
            <a:ext cx="3538389" cy="412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2E3F4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Comunidade Gigante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275239" y="5038725"/>
            <a:ext cx="3538389" cy="1883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9"/>
              </a:lnSpc>
            </a:pPr>
            <a:r>
              <a:rPr lang="en-US" b="true" sz="1688">
                <a:solidFill>
                  <a:srgbClr val="657179"/>
                </a:solidFill>
                <a:latin typeface="Roboto Bold"/>
                <a:ea typeface="Roboto Bold"/>
                <a:cs typeface="Roboto Bold"/>
                <a:sym typeface="Roboto Bold"/>
              </a:rPr>
              <a:t>Com milhões de desenvolvedores, é fácil encontrar documentação, fóruns de ajuda, bibliotecas prontas e frameworks robustos como o Laravel.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866760" y="4501309"/>
            <a:ext cx="2144613" cy="412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2E3F4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Open Source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866760" y="5038725"/>
            <a:ext cx="3529745" cy="1880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1"/>
              </a:lnSpc>
            </a:pPr>
            <a:r>
              <a:rPr lang="en-US" b="true" sz="1689">
                <a:solidFill>
                  <a:srgbClr val="657179"/>
                </a:solidFill>
                <a:latin typeface="Roboto Bold"/>
                <a:ea typeface="Roboto Bold"/>
                <a:cs typeface="Roboto Bold"/>
                <a:sym typeface="Roboto Bold"/>
              </a:rPr>
              <a:t>O PHP é gratuito e de código aberto. Isso elimina custos de licenciamento e reduz drasticamente o investimento inicial em projetos de qualquer escala.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735906" y="4398307"/>
            <a:ext cx="2121359" cy="412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2E3F4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Flexibilidade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692686" y="5038725"/>
            <a:ext cx="3707398" cy="1499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b="true" sz="1700">
                <a:solidFill>
                  <a:srgbClr val="657179"/>
                </a:solidFill>
                <a:latin typeface="Roboto Bold"/>
                <a:ea typeface="Roboto Bold"/>
                <a:cs typeface="Roboto Bold"/>
                <a:sym typeface="Roboto Bold"/>
              </a:rPr>
              <a:t>Altamente compatível com quase todos os servidores (Apache, Nginx) e bancos de dados (MySQL PostgreSQL, Oracle, MongoDB).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97730" y="9388109"/>
            <a:ext cx="8531563" cy="290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  <a:spcBef>
                <a:spcPct val="0"/>
              </a:spcBef>
            </a:pPr>
            <a:r>
              <a:rPr lang="en-US" sz="1700">
                <a:solidFill>
                  <a:srgbClr val="A6A6A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Fonte: Conteige Cloud (conteige.cloud/php-vantagens-e-desvantagens/) e PHP Official Documentation (php.net) )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12735906" y="3931050"/>
            <a:ext cx="411045" cy="262704"/>
          </a:xfrm>
          <a:custGeom>
            <a:avLst/>
            <a:gdLst/>
            <a:ahLst/>
            <a:cxnLst/>
            <a:rect r="r" b="b" t="t" l="l"/>
            <a:pathLst>
              <a:path h="262704" w="411045">
                <a:moveTo>
                  <a:pt x="0" y="0"/>
                </a:moveTo>
                <a:lnTo>
                  <a:pt x="411045" y="0"/>
                </a:lnTo>
                <a:lnTo>
                  <a:pt x="411045" y="262703"/>
                </a:lnTo>
                <a:lnTo>
                  <a:pt x="0" y="2627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92" t="0" r="-1692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7275239" y="3931050"/>
            <a:ext cx="411045" cy="262704"/>
          </a:xfrm>
          <a:custGeom>
            <a:avLst/>
            <a:gdLst/>
            <a:ahLst/>
            <a:cxnLst/>
            <a:rect r="r" b="b" t="t" l="l"/>
            <a:pathLst>
              <a:path h="262704" w="411045">
                <a:moveTo>
                  <a:pt x="0" y="0"/>
                </a:moveTo>
                <a:lnTo>
                  <a:pt x="411045" y="0"/>
                </a:lnTo>
                <a:lnTo>
                  <a:pt x="411045" y="262703"/>
                </a:lnTo>
                <a:lnTo>
                  <a:pt x="0" y="2627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92" t="0" r="-1692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866760" y="3931050"/>
            <a:ext cx="411045" cy="262704"/>
          </a:xfrm>
          <a:custGeom>
            <a:avLst/>
            <a:gdLst/>
            <a:ahLst/>
            <a:cxnLst/>
            <a:rect r="r" b="b" t="t" l="l"/>
            <a:pathLst>
              <a:path h="262704" w="411045">
                <a:moveTo>
                  <a:pt x="0" y="0"/>
                </a:moveTo>
                <a:lnTo>
                  <a:pt x="411045" y="0"/>
                </a:lnTo>
                <a:lnTo>
                  <a:pt x="411045" y="262703"/>
                </a:lnTo>
                <a:lnTo>
                  <a:pt x="0" y="2627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92" t="0" r="-1692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89967" y="942489"/>
            <a:ext cx="117901" cy="989502"/>
            <a:chOff x="0" y="0"/>
            <a:chExt cx="31052" cy="2606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052" cy="260610"/>
            </a:xfrm>
            <a:custGeom>
              <a:avLst/>
              <a:gdLst/>
              <a:ahLst/>
              <a:cxnLst/>
              <a:rect r="r" b="b" t="t" l="l"/>
              <a:pathLst>
                <a:path h="260610" w="31052">
                  <a:moveTo>
                    <a:pt x="0" y="0"/>
                  </a:moveTo>
                  <a:lnTo>
                    <a:pt x="31052" y="0"/>
                  </a:lnTo>
                  <a:lnTo>
                    <a:pt x="31052" y="260610"/>
                  </a:lnTo>
                  <a:lnTo>
                    <a:pt x="0" y="260610"/>
                  </a:lnTo>
                  <a:close/>
                </a:path>
              </a:pathLst>
            </a:custGeom>
            <a:solidFill>
              <a:srgbClr val="3272B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38100"/>
              <a:ext cx="31052" cy="2225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4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537232" y="938368"/>
            <a:ext cx="10389866" cy="902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67"/>
              </a:lnSpc>
              <a:spcBef>
                <a:spcPct val="0"/>
              </a:spcBef>
            </a:pPr>
            <a:r>
              <a:rPr lang="en-US" b="true" sz="5333" spc="-192">
                <a:solidFill>
                  <a:srgbClr val="3272B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PERFORMANCE E SEGURANÇA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07868" y="3261235"/>
            <a:ext cx="3076392" cy="428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2"/>
              </a:lnSpc>
              <a:spcBef>
                <a:spcPct val="0"/>
              </a:spcBef>
            </a:pPr>
            <a:r>
              <a:rPr lang="en-US" b="true" sz="2551">
                <a:solidFill>
                  <a:srgbClr val="2D374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Alto Desempenho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07868" y="3713824"/>
            <a:ext cx="7180352" cy="709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7"/>
              </a:lnSpc>
              <a:spcBef>
                <a:spcPct val="0"/>
              </a:spcBef>
            </a:pPr>
            <a:r>
              <a:rPr lang="en-US" sz="2012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As versões 8.x introduziram o JIT (Just-In-Time Compiler), que acelera significativamente a execução de scripts complexos.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48917" y="5123140"/>
            <a:ext cx="2933960" cy="412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2D374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Segurança Nativa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48917" y="5667969"/>
            <a:ext cx="7440040" cy="710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6"/>
              </a:lnSpc>
              <a:spcBef>
                <a:spcPct val="0"/>
              </a:spcBef>
            </a:pPr>
            <a:r>
              <a:rPr lang="en-US" sz="2011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Oferece ferramentas integradas para proteção contra ameaças comuns, como SQL Injection, Cross-Site Scripting (XSS) e CSRF.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48917" y="7074051"/>
            <a:ext cx="3170411" cy="412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2D374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Escabilidade Cloud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48917" y="7620114"/>
            <a:ext cx="7239302" cy="710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7"/>
              </a:lnSpc>
              <a:spcBef>
                <a:spcPct val="0"/>
              </a:spcBef>
            </a:pPr>
            <a:r>
              <a:rPr lang="en-US" sz="2026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Funciona perfeitamente em ambientes de nuvem modernos (AWS, Azure, Google Cloud) através de containers Docker.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97730" y="1028700"/>
            <a:ext cx="117901" cy="989502"/>
            <a:chOff x="0" y="0"/>
            <a:chExt cx="31052" cy="2606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052" cy="260610"/>
            </a:xfrm>
            <a:custGeom>
              <a:avLst/>
              <a:gdLst/>
              <a:ahLst/>
              <a:cxnLst/>
              <a:rect r="r" b="b" t="t" l="l"/>
              <a:pathLst>
                <a:path h="260610" w="31052">
                  <a:moveTo>
                    <a:pt x="0" y="0"/>
                  </a:moveTo>
                  <a:lnTo>
                    <a:pt x="31052" y="0"/>
                  </a:lnTo>
                  <a:lnTo>
                    <a:pt x="31052" y="260610"/>
                  </a:lnTo>
                  <a:lnTo>
                    <a:pt x="0" y="260610"/>
                  </a:lnTo>
                  <a:close/>
                </a:path>
              </a:pathLst>
            </a:custGeom>
            <a:solidFill>
              <a:srgbClr val="3272B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38100"/>
              <a:ext cx="31052" cy="2225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4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660955" y="1024578"/>
            <a:ext cx="10435055" cy="902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67"/>
              </a:lnSpc>
              <a:spcBef>
                <a:spcPct val="0"/>
              </a:spcBef>
            </a:pPr>
            <a:r>
              <a:rPr lang="en-US" b="true" sz="5333" spc="-192">
                <a:solidFill>
                  <a:srgbClr val="3272B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DESVANTAGENS E LIMITAÇÕES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834780" y="3542451"/>
            <a:ext cx="4619656" cy="3969233"/>
            <a:chOff x="0" y="0"/>
            <a:chExt cx="1216700" cy="104539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16700" cy="1045395"/>
            </a:xfrm>
            <a:custGeom>
              <a:avLst/>
              <a:gdLst/>
              <a:ahLst/>
              <a:cxnLst/>
              <a:rect r="r" b="b" t="t" l="l"/>
              <a:pathLst>
                <a:path h="1045395" w="1216700">
                  <a:moveTo>
                    <a:pt x="85469" y="0"/>
                  </a:moveTo>
                  <a:lnTo>
                    <a:pt x="1131231" y="0"/>
                  </a:lnTo>
                  <a:cubicBezTo>
                    <a:pt x="1178434" y="0"/>
                    <a:pt x="1216700" y="38266"/>
                    <a:pt x="1216700" y="85469"/>
                  </a:cubicBezTo>
                  <a:lnTo>
                    <a:pt x="1216700" y="959926"/>
                  </a:lnTo>
                  <a:cubicBezTo>
                    <a:pt x="1216700" y="982593"/>
                    <a:pt x="1207695" y="1004333"/>
                    <a:pt x="1191666" y="1020361"/>
                  </a:cubicBezTo>
                  <a:cubicBezTo>
                    <a:pt x="1175638" y="1036390"/>
                    <a:pt x="1153898" y="1045395"/>
                    <a:pt x="1131231" y="1045395"/>
                  </a:cubicBezTo>
                  <a:lnTo>
                    <a:pt x="85469" y="1045395"/>
                  </a:lnTo>
                  <a:cubicBezTo>
                    <a:pt x="38266" y="1045395"/>
                    <a:pt x="0" y="1007129"/>
                    <a:pt x="0" y="959926"/>
                  </a:cubicBezTo>
                  <a:lnTo>
                    <a:pt x="0" y="85469"/>
                  </a:lnTo>
                  <a:cubicBezTo>
                    <a:pt x="0" y="62801"/>
                    <a:pt x="9005" y="41062"/>
                    <a:pt x="25033" y="25033"/>
                  </a:cubicBezTo>
                  <a:cubicBezTo>
                    <a:pt x="41062" y="9005"/>
                    <a:pt x="62801" y="0"/>
                    <a:pt x="85469" y="0"/>
                  </a:cubicBezTo>
                  <a:close/>
                </a:path>
              </a:pathLst>
            </a:custGeom>
            <a:solidFill>
              <a:srgbClr val="F4F7F9"/>
            </a:solidFill>
            <a:ln w="19050" cap="rnd">
              <a:solidFill>
                <a:srgbClr val="E2E8F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38100"/>
              <a:ext cx="1216700" cy="10072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4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253928" y="3542451"/>
            <a:ext cx="4619656" cy="3940365"/>
            <a:chOff x="0" y="0"/>
            <a:chExt cx="1216700" cy="103779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16700" cy="1037792"/>
            </a:xfrm>
            <a:custGeom>
              <a:avLst/>
              <a:gdLst/>
              <a:ahLst/>
              <a:cxnLst/>
              <a:rect r="r" b="b" t="t" l="l"/>
              <a:pathLst>
                <a:path h="1037792" w="1216700">
                  <a:moveTo>
                    <a:pt x="85469" y="0"/>
                  </a:moveTo>
                  <a:lnTo>
                    <a:pt x="1131231" y="0"/>
                  </a:lnTo>
                  <a:cubicBezTo>
                    <a:pt x="1178434" y="0"/>
                    <a:pt x="1216700" y="38266"/>
                    <a:pt x="1216700" y="85469"/>
                  </a:cubicBezTo>
                  <a:lnTo>
                    <a:pt x="1216700" y="952323"/>
                  </a:lnTo>
                  <a:cubicBezTo>
                    <a:pt x="1216700" y="974990"/>
                    <a:pt x="1207695" y="996730"/>
                    <a:pt x="1191666" y="1012758"/>
                  </a:cubicBezTo>
                  <a:cubicBezTo>
                    <a:pt x="1175638" y="1028787"/>
                    <a:pt x="1153898" y="1037792"/>
                    <a:pt x="1131231" y="1037792"/>
                  </a:cubicBezTo>
                  <a:lnTo>
                    <a:pt x="85469" y="1037792"/>
                  </a:lnTo>
                  <a:cubicBezTo>
                    <a:pt x="38266" y="1037792"/>
                    <a:pt x="0" y="999526"/>
                    <a:pt x="0" y="952323"/>
                  </a:cubicBezTo>
                  <a:lnTo>
                    <a:pt x="0" y="85469"/>
                  </a:lnTo>
                  <a:cubicBezTo>
                    <a:pt x="0" y="62801"/>
                    <a:pt x="9005" y="41062"/>
                    <a:pt x="25033" y="25033"/>
                  </a:cubicBezTo>
                  <a:cubicBezTo>
                    <a:pt x="41062" y="9005"/>
                    <a:pt x="62801" y="0"/>
                    <a:pt x="85469" y="0"/>
                  </a:cubicBezTo>
                  <a:close/>
                </a:path>
              </a:pathLst>
            </a:custGeom>
            <a:solidFill>
              <a:srgbClr val="F4F7F9"/>
            </a:solidFill>
            <a:ln w="19050" cap="rnd">
              <a:solidFill>
                <a:srgbClr val="E2E8F0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38100"/>
              <a:ext cx="1216700" cy="9996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4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15631" y="3542451"/>
            <a:ext cx="4619656" cy="3940365"/>
            <a:chOff x="0" y="0"/>
            <a:chExt cx="1216700" cy="103779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16700" cy="1037792"/>
            </a:xfrm>
            <a:custGeom>
              <a:avLst/>
              <a:gdLst/>
              <a:ahLst/>
              <a:cxnLst/>
              <a:rect r="r" b="b" t="t" l="l"/>
              <a:pathLst>
                <a:path h="1037792" w="1216700">
                  <a:moveTo>
                    <a:pt x="85469" y="0"/>
                  </a:moveTo>
                  <a:lnTo>
                    <a:pt x="1131231" y="0"/>
                  </a:lnTo>
                  <a:cubicBezTo>
                    <a:pt x="1178434" y="0"/>
                    <a:pt x="1216700" y="38266"/>
                    <a:pt x="1216700" y="85469"/>
                  </a:cubicBezTo>
                  <a:lnTo>
                    <a:pt x="1216700" y="952323"/>
                  </a:lnTo>
                  <a:cubicBezTo>
                    <a:pt x="1216700" y="974990"/>
                    <a:pt x="1207695" y="996730"/>
                    <a:pt x="1191666" y="1012758"/>
                  </a:cubicBezTo>
                  <a:cubicBezTo>
                    <a:pt x="1175638" y="1028787"/>
                    <a:pt x="1153898" y="1037792"/>
                    <a:pt x="1131231" y="1037792"/>
                  </a:cubicBezTo>
                  <a:lnTo>
                    <a:pt x="85469" y="1037792"/>
                  </a:lnTo>
                  <a:cubicBezTo>
                    <a:pt x="38266" y="1037792"/>
                    <a:pt x="0" y="999526"/>
                    <a:pt x="0" y="952323"/>
                  </a:cubicBezTo>
                  <a:lnTo>
                    <a:pt x="0" y="85469"/>
                  </a:lnTo>
                  <a:cubicBezTo>
                    <a:pt x="0" y="62801"/>
                    <a:pt x="9005" y="41062"/>
                    <a:pt x="25033" y="25033"/>
                  </a:cubicBezTo>
                  <a:cubicBezTo>
                    <a:pt x="41062" y="9005"/>
                    <a:pt x="62801" y="0"/>
                    <a:pt x="85469" y="0"/>
                  </a:cubicBezTo>
                  <a:close/>
                </a:path>
              </a:pathLst>
            </a:custGeom>
            <a:solidFill>
              <a:srgbClr val="F4F7F9"/>
            </a:solidFill>
            <a:ln w="19050" cap="rnd">
              <a:solidFill>
                <a:srgbClr val="E2E8F0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38100"/>
              <a:ext cx="1216700" cy="9996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4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7245635" y="4443220"/>
            <a:ext cx="3210409" cy="412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2E3F4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Estigma do Legado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238324" y="5038725"/>
            <a:ext cx="3823554" cy="1500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9"/>
              </a:lnSpc>
            </a:pPr>
            <a:r>
              <a:rPr lang="en-US" b="true" sz="1688">
                <a:solidFill>
                  <a:srgbClr val="657179"/>
                </a:solidFill>
                <a:latin typeface="Roboto Bold"/>
                <a:ea typeface="Roboto Bold"/>
                <a:cs typeface="Roboto Bold"/>
                <a:sym typeface="Roboto Bold"/>
              </a:rPr>
              <a:t>O mercado ainda possui preconceito histórico com a linguagem, devido a sistemas legados construídos com más práticas nas antigas versões 4 e 5.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866760" y="4443220"/>
            <a:ext cx="3580991" cy="412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2E3F4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Sintaxe Inconsistente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866760" y="5038725"/>
            <a:ext cx="3529745" cy="1880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1"/>
              </a:lnSpc>
            </a:pPr>
            <a:r>
              <a:rPr lang="en-US" sz="1689" b="true">
                <a:solidFill>
                  <a:srgbClr val="657179"/>
                </a:solidFill>
                <a:latin typeface="Roboto Bold"/>
                <a:ea typeface="Roboto Bold"/>
                <a:cs typeface="Roboto Bold"/>
                <a:sym typeface="Roboto Bold"/>
              </a:rPr>
              <a:t>Nomes de funções nativas herdadas do PHP antigo costumam ser inconsistentes com a ordem de parâmetros e nomenclatura (ex: strlen vs str_replace).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692686" y="4398307"/>
            <a:ext cx="2800015" cy="412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2E3F4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Erros Silenciosos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735906" y="5038725"/>
            <a:ext cx="3707398" cy="1880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b="true" sz="1700">
                <a:solidFill>
                  <a:srgbClr val="657179"/>
                </a:solidFill>
                <a:latin typeface="Roboto Bold"/>
                <a:ea typeface="Roboto Bold"/>
                <a:cs typeface="Roboto Bold"/>
                <a:sym typeface="Roboto Bold"/>
              </a:rPr>
              <a:t>A tipagem fraca padrão facilita a coerção automática de dados incorretos, o que pode mascarar bugs no sistema se o modo estrito não for ativado.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12735906" y="3931050"/>
            <a:ext cx="411045" cy="262704"/>
          </a:xfrm>
          <a:custGeom>
            <a:avLst/>
            <a:gdLst/>
            <a:ahLst/>
            <a:cxnLst/>
            <a:rect r="r" b="b" t="t" l="l"/>
            <a:pathLst>
              <a:path h="262704" w="411045">
                <a:moveTo>
                  <a:pt x="0" y="0"/>
                </a:moveTo>
                <a:lnTo>
                  <a:pt x="411045" y="0"/>
                </a:lnTo>
                <a:lnTo>
                  <a:pt x="411045" y="262703"/>
                </a:lnTo>
                <a:lnTo>
                  <a:pt x="0" y="2627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92" t="0" r="-1692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7275239" y="3931050"/>
            <a:ext cx="411045" cy="262704"/>
          </a:xfrm>
          <a:custGeom>
            <a:avLst/>
            <a:gdLst/>
            <a:ahLst/>
            <a:cxnLst/>
            <a:rect r="r" b="b" t="t" l="l"/>
            <a:pathLst>
              <a:path h="262704" w="411045">
                <a:moveTo>
                  <a:pt x="0" y="0"/>
                </a:moveTo>
                <a:lnTo>
                  <a:pt x="411045" y="0"/>
                </a:lnTo>
                <a:lnTo>
                  <a:pt x="411045" y="262703"/>
                </a:lnTo>
                <a:lnTo>
                  <a:pt x="0" y="2627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92" t="0" r="-1692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866760" y="3931050"/>
            <a:ext cx="411045" cy="262704"/>
          </a:xfrm>
          <a:custGeom>
            <a:avLst/>
            <a:gdLst/>
            <a:ahLst/>
            <a:cxnLst/>
            <a:rect r="r" b="b" t="t" l="l"/>
            <a:pathLst>
              <a:path h="262704" w="411045">
                <a:moveTo>
                  <a:pt x="0" y="0"/>
                </a:moveTo>
                <a:lnTo>
                  <a:pt x="411045" y="0"/>
                </a:lnTo>
                <a:lnTo>
                  <a:pt x="411045" y="262703"/>
                </a:lnTo>
                <a:lnTo>
                  <a:pt x="0" y="2627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92" t="0" r="-1692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415631" y="9303615"/>
            <a:ext cx="7878589" cy="290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  <a:spcBef>
                <a:spcPct val="0"/>
              </a:spcBef>
            </a:pPr>
            <a:r>
              <a:rPr lang="en-US" sz="1700">
                <a:solidFill>
                  <a:srgbClr val="A6A6A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Fonte: PHP Official RFC Manual (php.net) e Conteige Cloud (conteige.cloud/php-vantagens-e-desvantagens/)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041372" y="1341040"/>
            <a:ext cx="5778062" cy="5778062"/>
          </a:xfrm>
          <a:custGeom>
            <a:avLst/>
            <a:gdLst/>
            <a:ahLst/>
            <a:cxnLst/>
            <a:rect r="r" b="b" t="t" l="l"/>
            <a:pathLst>
              <a:path h="5778062" w="5778062">
                <a:moveTo>
                  <a:pt x="0" y="0"/>
                </a:moveTo>
                <a:lnTo>
                  <a:pt x="5778062" y="0"/>
                </a:lnTo>
                <a:lnTo>
                  <a:pt x="5778062" y="5778062"/>
                </a:lnTo>
                <a:lnTo>
                  <a:pt x="0" y="57780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35766" y="938176"/>
            <a:ext cx="6400054" cy="1081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00"/>
              </a:lnSpc>
            </a:pPr>
            <a:r>
              <a:rPr lang="en-US" b="true" sz="8953" spc="-322">
                <a:solidFill>
                  <a:srgbClr val="3272B4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O QUE É O PHP?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23413" y="2758949"/>
            <a:ext cx="7738752" cy="4702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53"/>
              </a:lnSpc>
              <a:spcBef>
                <a:spcPct val="0"/>
              </a:spcBef>
            </a:pPr>
            <a:r>
              <a:rPr lang="en-US" b="true" sz="3323">
                <a:solidFill>
                  <a:srgbClr val="3272B4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PHP, SIGLA PARA HYPERTEXT PREPROCESSOR, É UMA LINGUAGEM DE PROGRAMAÇÃO VOLTADA AO DESENVOLVIMENTO WEB. </a:t>
            </a:r>
          </a:p>
          <a:p>
            <a:pPr algn="just">
              <a:lnSpc>
                <a:spcPts val="4653"/>
              </a:lnSpc>
              <a:spcBef>
                <a:spcPct val="0"/>
              </a:spcBef>
            </a:pPr>
          </a:p>
          <a:p>
            <a:pPr algn="just">
              <a:lnSpc>
                <a:spcPts val="4653"/>
              </a:lnSpc>
              <a:spcBef>
                <a:spcPct val="0"/>
              </a:spcBef>
            </a:pPr>
            <a:r>
              <a:rPr lang="en-US" b="true" sz="3323">
                <a:solidFill>
                  <a:srgbClr val="3272B4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TRATA-SE DE UMA LINGUAGEM INTERPRETADA E EXECUTADA NO LADO DO SERVIDOR, CUJA FUNÇÃO PRINCIPAL É PROCESSAR CÓDIGO E GERAR CONTEÚDO DINÂMICO PARA PÁGINAS WEB.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904576" y="6653146"/>
            <a:ext cx="8051654" cy="1549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49"/>
              </a:lnSpc>
              <a:spcBef>
                <a:spcPct val="0"/>
              </a:spcBef>
            </a:pPr>
            <a:r>
              <a:rPr lang="en-US" b="true" sz="2963">
                <a:solidFill>
                  <a:srgbClr val="3272B4"/>
                </a:solidFill>
                <a:latin typeface="Barlow SemiCondensed Medium"/>
                <a:ea typeface="Barlow SemiCondensed Medium"/>
                <a:cs typeface="Barlow SemiCondensed Medium"/>
                <a:sym typeface="Barlow SemiCondensed Medium"/>
              </a:rPr>
              <a:t>PHP suporta múltiplos paradigmas de programação: imperativo, funcional, orientado a objetos, procedural e reflexivo.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8174356"/>
            <a:ext cx="6965058" cy="1369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6C757D"/>
                </a:solidFill>
                <a:latin typeface="Montserrat"/>
                <a:ea typeface="Montserrat"/>
                <a:cs typeface="Montserrat"/>
                <a:sym typeface="Montserrat"/>
              </a:rPr>
              <a:t>Fontes: </a:t>
            </a:r>
          </a:p>
          <a:p>
            <a:pPr algn="l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sz="1599">
                <a:solidFill>
                  <a:srgbClr val="6C757D"/>
                </a:solidFill>
                <a:latin typeface="Montserrat"/>
                <a:ea typeface="Montserrat"/>
                <a:cs typeface="Montserrat"/>
                <a:sym typeface="Montserrat"/>
              </a:rPr>
              <a:t>Alura - https://www.alura.com.br/artigos/php</a:t>
            </a:r>
          </a:p>
          <a:p>
            <a:pPr algn="l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sz="1599">
                <a:solidFill>
                  <a:srgbClr val="6C757D"/>
                </a:solidFill>
                <a:latin typeface="Montserrat"/>
                <a:ea typeface="Montserrat"/>
                <a:cs typeface="Montserrat"/>
                <a:sym typeface="Montserrat"/>
              </a:rPr>
              <a:t>Carreira em Ti - https://carreiraemti.com.br/blog/php-a-linguagem-de-programacao-que-revolucionou-a-web/</a:t>
            </a:r>
          </a:p>
          <a:p>
            <a:pPr algn="l">
              <a:lnSpc>
                <a:spcPts val="2239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802049" y="5792294"/>
            <a:ext cx="3457251" cy="3354794"/>
            <a:chOff x="0" y="0"/>
            <a:chExt cx="594210" cy="576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94210" cy="576600"/>
            </a:xfrm>
            <a:custGeom>
              <a:avLst/>
              <a:gdLst/>
              <a:ahLst/>
              <a:cxnLst/>
              <a:rect r="r" b="b" t="t" l="l"/>
              <a:pathLst>
                <a:path h="576600" w="594210">
                  <a:moveTo>
                    <a:pt x="0" y="0"/>
                  </a:moveTo>
                  <a:lnTo>
                    <a:pt x="594210" y="0"/>
                  </a:lnTo>
                  <a:lnTo>
                    <a:pt x="594210" y="576600"/>
                  </a:lnTo>
                  <a:lnTo>
                    <a:pt x="0" y="576600"/>
                  </a:lnTo>
                  <a:close/>
                </a:path>
              </a:pathLst>
            </a:custGeom>
            <a:blipFill>
              <a:blip r:embed="rId2"/>
              <a:stretch>
                <a:fillRect l="0" t="-3604" r="0" b="-3604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296336" y="9515820"/>
            <a:ext cx="2507093" cy="373785"/>
          </a:xfrm>
          <a:custGeom>
            <a:avLst/>
            <a:gdLst/>
            <a:ahLst/>
            <a:cxnLst/>
            <a:rect r="r" b="b" t="t" l="l"/>
            <a:pathLst>
              <a:path h="373785" w="2507093">
                <a:moveTo>
                  <a:pt x="0" y="0"/>
                </a:moveTo>
                <a:lnTo>
                  <a:pt x="2507093" y="0"/>
                </a:lnTo>
                <a:lnTo>
                  <a:pt x="2507093" y="373785"/>
                </a:lnTo>
                <a:lnTo>
                  <a:pt x="0" y="37378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599738" y="1050774"/>
            <a:ext cx="3861872" cy="3847390"/>
          </a:xfrm>
          <a:custGeom>
            <a:avLst/>
            <a:gdLst/>
            <a:ahLst/>
            <a:cxnLst/>
            <a:rect r="r" b="b" t="t" l="l"/>
            <a:pathLst>
              <a:path h="3847390" w="3861872">
                <a:moveTo>
                  <a:pt x="0" y="0"/>
                </a:moveTo>
                <a:lnTo>
                  <a:pt x="3861873" y="0"/>
                </a:lnTo>
                <a:lnTo>
                  <a:pt x="3861873" y="3847390"/>
                </a:lnTo>
                <a:lnTo>
                  <a:pt x="0" y="384739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886326"/>
            <a:ext cx="7659607" cy="1843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926"/>
              </a:lnSpc>
            </a:pPr>
            <a:r>
              <a:rPr lang="en-US" b="true" sz="8054" spc="-289">
                <a:solidFill>
                  <a:srgbClr val="3272B4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PRINCIPAIS CARACTERISTICAS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362397" y="2438770"/>
            <a:ext cx="3501469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013F6F"/>
                </a:solidFill>
                <a:latin typeface="Barlow SemiCondensed"/>
                <a:ea typeface="Barlow SemiCondensed"/>
                <a:cs typeface="Barlow SemiCondensed"/>
                <a:sym typeface="Barlow SemiCondensed"/>
              </a:rPr>
              <a:t>Suporta POO, programação procedural  e funcional no mesmo projeto.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902578" y="5324481"/>
            <a:ext cx="4961287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013F6F"/>
                </a:solidFill>
                <a:latin typeface="Barlow SemiCondensed"/>
                <a:ea typeface="Barlow SemiCondensed"/>
                <a:cs typeface="Barlow SemiCondensed"/>
                <a:sym typeface="Barlow SemiCondensed"/>
              </a:rPr>
              <a:t>conecta-se nativamente com qualquer tipo de de banco de dados e apresenta extrema compatibilidade.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362397" y="8152880"/>
            <a:ext cx="3501469" cy="173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013F6F"/>
                </a:solidFill>
                <a:latin typeface="Barlow SemiCondensed"/>
                <a:ea typeface="Barlow SemiCondensed"/>
                <a:cs typeface="Barlow SemiCondensed"/>
                <a:sym typeface="Barlow SemiCondensed"/>
              </a:rPr>
              <a:t>Frameworks como o Laravel  e suas diversas bibliotecas  tornam o desenvolvimento ágil e seguro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254924" y="1338415"/>
            <a:ext cx="4608941" cy="648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4980"/>
              </a:lnSpc>
            </a:pPr>
            <a:r>
              <a:rPr lang="en-US" b="true" sz="4654" spc="-167">
                <a:solidFill>
                  <a:srgbClr val="3272B4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MULTI – PARADIGMA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688307" y="4249822"/>
            <a:ext cx="4175558" cy="648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4980"/>
              </a:lnSpc>
            </a:pPr>
            <a:r>
              <a:rPr lang="en-US" b="true" sz="4654" spc="-167">
                <a:solidFill>
                  <a:srgbClr val="3272B4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ALTA INTEGRAÇÃO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688307" y="6981683"/>
            <a:ext cx="4175558" cy="1276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4980"/>
              </a:lnSpc>
            </a:pPr>
            <a:r>
              <a:rPr lang="en-US" b="true" sz="4654" spc="-167">
                <a:solidFill>
                  <a:srgbClr val="3272B4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ECOSSISTEMA RICO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96336" y="8165465"/>
            <a:ext cx="7744028" cy="1369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6C757D"/>
                </a:solidFill>
                <a:latin typeface="Montserrat"/>
                <a:ea typeface="Montserrat"/>
                <a:cs typeface="Montserrat"/>
                <a:sym typeface="Montserrat"/>
              </a:rPr>
              <a:t>Fontes: </a:t>
            </a:r>
          </a:p>
          <a:p>
            <a:pPr algn="l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sz="1599">
                <a:solidFill>
                  <a:srgbClr val="6C757D"/>
                </a:solidFill>
                <a:latin typeface="Montserrat"/>
                <a:ea typeface="Montserrat"/>
                <a:cs typeface="Montserrat"/>
                <a:sym typeface="Montserrat"/>
              </a:rPr>
              <a:t>LocalWeb </a:t>
            </a:r>
            <a:r>
              <a:rPr lang="en-US" sz="1599">
                <a:solidFill>
                  <a:srgbClr val="6C757D"/>
                </a:solidFill>
                <a:latin typeface="Montserrat"/>
                <a:ea typeface="Montserrat"/>
                <a:cs typeface="Montserrat"/>
                <a:sym typeface="Montserrat"/>
              </a:rPr>
              <a:t>- https://www.locaweb.com.br/blog/temas/codigo-aberto/tudo-sobre-linguagem-de-programacao-php/</a:t>
            </a:r>
          </a:p>
          <a:p>
            <a:pPr algn="l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sz="1599">
                <a:solidFill>
                  <a:srgbClr val="6C757D"/>
                </a:solidFill>
                <a:latin typeface="Montserrat"/>
                <a:ea typeface="Montserrat"/>
                <a:cs typeface="Montserrat"/>
                <a:sym typeface="Montserrat"/>
              </a:rPr>
              <a:t>HostMídia - https://www.hostmidia.com.br/blog/o-que-e-php/</a:t>
            </a:r>
          </a:p>
          <a:p>
            <a:pPr algn="l">
              <a:lnSpc>
                <a:spcPts val="2239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804858" y="1028700"/>
            <a:ext cx="6454442" cy="4362456"/>
            <a:chOff x="0" y="0"/>
            <a:chExt cx="999962" cy="6758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99962" cy="675859"/>
            </a:xfrm>
            <a:custGeom>
              <a:avLst/>
              <a:gdLst/>
              <a:ahLst/>
              <a:cxnLst/>
              <a:rect r="r" b="b" t="t" l="l"/>
              <a:pathLst>
                <a:path h="675859" w="999962">
                  <a:moveTo>
                    <a:pt x="0" y="0"/>
                  </a:moveTo>
                  <a:lnTo>
                    <a:pt x="999962" y="0"/>
                  </a:lnTo>
                  <a:lnTo>
                    <a:pt x="999962" y="675859"/>
                  </a:lnTo>
                  <a:lnTo>
                    <a:pt x="0" y="675859"/>
                  </a:lnTo>
                  <a:close/>
                </a:path>
              </a:pathLst>
            </a:custGeom>
            <a:blipFill>
              <a:blip r:embed="rId2"/>
              <a:stretch>
                <a:fillRect l="-11684" t="0" r="-11684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028700" y="1248805"/>
            <a:ext cx="2507093" cy="373785"/>
          </a:xfrm>
          <a:custGeom>
            <a:avLst/>
            <a:gdLst/>
            <a:ahLst/>
            <a:cxnLst/>
            <a:rect r="r" b="b" t="t" l="l"/>
            <a:pathLst>
              <a:path h="373785" w="2507093">
                <a:moveTo>
                  <a:pt x="0" y="0"/>
                </a:moveTo>
                <a:lnTo>
                  <a:pt x="2507093" y="0"/>
                </a:lnTo>
                <a:lnTo>
                  <a:pt x="2507093" y="373784"/>
                </a:lnTo>
                <a:lnTo>
                  <a:pt x="0" y="3737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697469" y="5667381"/>
            <a:ext cx="6669220" cy="3867144"/>
          </a:xfrm>
          <a:custGeom>
            <a:avLst/>
            <a:gdLst/>
            <a:ahLst/>
            <a:cxnLst/>
            <a:rect r="r" b="b" t="t" l="l"/>
            <a:pathLst>
              <a:path h="3867144" w="6669220">
                <a:moveTo>
                  <a:pt x="0" y="0"/>
                </a:moveTo>
                <a:lnTo>
                  <a:pt x="6669220" y="0"/>
                </a:lnTo>
                <a:lnTo>
                  <a:pt x="6669220" y="3867144"/>
                </a:lnTo>
                <a:lnTo>
                  <a:pt x="0" y="386714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21669" r="0" b="-13537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2065101"/>
            <a:ext cx="6400054" cy="2053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00"/>
              </a:lnSpc>
            </a:pPr>
            <a:r>
              <a:rPr lang="en-US" b="true" sz="8953" spc="-322">
                <a:solidFill>
                  <a:srgbClr val="3272B4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SINTAXE E ESTRUTURA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4890129"/>
            <a:ext cx="8115300" cy="217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500"/>
              </a:lnSpc>
              <a:spcBef>
                <a:spcPct val="0"/>
              </a:spcBef>
            </a:pPr>
            <a:r>
              <a:rPr lang="en-US" b="true" sz="2500">
                <a:solidFill>
                  <a:srgbClr val="013F6F"/>
                </a:solidFill>
                <a:latin typeface="Barlow SemiCondensed Medium"/>
                <a:ea typeface="Barlow SemiCondensed Medium"/>
                <a:cs typeface="Barlow SemiCondensed Medium"/>
                <a:sym typeface="Barlow SemiCondensed Medium"/>
              </a:rPr>
              <a:t>A sintaxe simples do PHP facilita bastante o desenvolvimento de sistemas, inclusive para pessoas com pouca experiência em programação. Todo código PHP é delimitado pelas tags &lt;?php e ?&gt;, podendo ser embutido diretamente em HTML ou escrito em arquivos separados.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8165465"/>
            <a:ext cx="5834643" cy="1369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6C757D"/>
                </a:solidFill>
                <a:latin typeface="Montserrat"/>
                <a:ea typeface="Montserrat"/>
                <a:cs typeface="Montserrat"/>
                <a:sym typeface="Montserrat"/>
              </a:rPr>
              <a:t>Fontes: </a:t>
            </a:r>
          </a:p>
          <a:p>
            <a:pPr algn="l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sz="1599">
                <a:solidFill>
                  <a:srgbClr val="6C757D"/>
                </a:solidFill>
                <a:latin typeface="Montserrat"/>
                <a:ea typeface="Montserrat"/>
                <a:cs typeface="Montserrat"/>
                <a:sym typeface="Montserrat"/>
              </a:rPr>
              <a:t>Localweb - https://www.locaweb.com.br/blog/temas/codigo-aberto/tudo-sobre-linguagem-de-programacao-php/</a:t>
            </a:r>
          </a:p>
          <a:p>
            <a:pPr algn="l">
              <a:lnSpc>
                <a:spcPts val="2239"/>
              </a:lnSpc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89967" y="942489"/>
            <a:ext cx="117901" cy="989502"/>
            <a:chOff x="0" y="0"/>
            <a:chExt cx="31052" cy="2606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052" cy="260610"/>
            </a:xfrm>
            <a:custGeom>
              <a:avLst/>
              <a:gdLst/>
              <a:ahLst/>
              <a:cxnLst/>
              <a:rect r="r" b="b" t="t" l="l"/>
              <a:pathLst>
                <a:path h="260610" w="31052">
                  <a:moveTo>
                    <a:pt x="0" y="0"/>
                  </a:moveTo>
                  <a:lnTo>
                    <a:pt x="31052" y="0"/>
                  </a:lnTo>
                  <a:lnTo>
                    <a:pt x="31052" y="260610"/>
                  </a:lnTo>
                  <a:lnTo>
                    <a:pt x="0" y="260610"/>
                  </a:lnTo>
                  <a:close/>
                </a:path>
              </a:pathLst>
            </a:custGeom>
            <a:solidFill>
              <a:srgbClr val="3272B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38100"/>
              <a:ext cx="31052" cy="2225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4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66401" y="957418"/>
            <a:ext cx="10269953" cy="674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35"/>
              </a:lnSpc>
              <a:spcBef>
                <a:spcPct val="0"/>
              </a:spcBef>
            </a:pPr>
            <a:r>
              <a:rPr lang="en-US" b="true" sz="3954" spc="-142">
                <a:solidFill>
                  <a:srgbClr val="3272B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CURIOSIDADES SOBRE A LINGUAGEM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20832" y="2680336"/>
            <a:ext cx="3656489" cy="730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18664" indent="-459332" lvl="1">
              <a:lnSpc>
                <a:spcPts val="5957"/>
              </a:lnSpc>
              <a:buFont typeface="Arial"/>
              <a:buChar char="•"/>
            </a:pPr>
            <a:r>
              <a:rPr lang="en-US" sz="4255" spc="-153">
                <a:solidFill>
                  <a:srgbClr val="3272B4"/>
                </a:solidFill>
                <a:latin typeface="Barlow SemiCondensed"/>
                <a:ea typeface="Barlow SemiCondensed"/>
                <a:cs typeface="Barlow SemiCondensed"/>
                <a:sym typeface="Barlow SemiCondensed"/>
              </a:rPr>
              <a:t> Suas funções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939926" y="3606173"/>
            <a:ext cx="5074159" cy="2220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4418" indent="-277209" lvl="1">
              <a:lnSpc>
                <a:spcPts val="3595"/>
              </a:lnSpc>
              <a:buFont typeface="Arial"/>
              <a:buChar char="•"/>
            </a:pPr>
            <a:r>
              <a:rPr lang="en-US" sz="2567" spc="-92">
                <a:solidFill>
                  <a:srgbClr val="000000"/>
                </a:solidFill>
                <a:latin typeface="Barlow SemiCondensed"/>
                <a:ea typeface="Barlow SemiCondensed"/>
                <a:cs typeface="Barlow SemiCondensed"/>
                <a:sym typeface="Barlow SemiCondensed"/>
              </a:rPr>
              <a:t>No PHP funções são tratadas como objetos de primeira classe. Isso significa que funções podem ser passadas como argumentos para outras funções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014084" y="2804507"/>
            <a:ext cx="4968765" cy="654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9992" indent="-414996" lvl="1">
              <a:lnSpc>
                <a:spcPts val="5382"/>
              </a:lnSpc>
              <a:buFont typeface="Arial"/>
              <a:buChar char="•"/>
            </a:pPr>
            <a:r>
              <a:rPr lang="en-US" sz="3844" spc="-138">
                <a:solidFill>
                  <a:srgbClr val="3272B4"/>
                </a:solidFill>
                <a:latin typeface="Barlow SemiCondensed"/>
                <a:ea typeface="Barlow SemiCondensed"/>
                <a:cs typeface="Barlow SemiCondensed"/>
                <a:sym typeface="Barlow SemiCondensed"/>
              </a:rPr>
              <a:t> Funções para arrays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737238" y="3596648"/>
            <a:ext cx="4578475" cy="3400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7519" indent="-263760" lvl="1">
              <a:lnSpc>
                <a:spcPts val="3420"/>
              </a:lnSpc>
              <a:buFont typeface="Arial"/>
              <a:buChar char="•"/>
            </a:pPr>
            <a:r>
              <a:rPr lang="en-US" sz="2443" spc="-87">
                <a:solidFill>
                  <a:srgbClr val="2E3F42"/>
                </a:solidFill>
                <a:latin typeface="Barlow SemiCondensed"/>
                <a:ea typeface="Barlow SemiCondensed"/>
                <a:cs typeface="Barlow SemiCondensed"/>
                <a:sym typeface="Barlow SemiCondensed"/>
              </a:rPr>
              <a:t>As suas mais conhecidas são: array_map e array_filter, as quais possibilitam transformar valores e filtrarem os mesmos de forma fácil. Mas o diferencial dessas funções é que a primeira tem um callback em seu primeiro parametro, ja sua segunda, um callback no segundo.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20832" y="8677758"/>
            <a:ext cx="13352711" cy="834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 spc="-86">
                <a:solidFill>
                  <a:srgbClr val="000000"/>
                </a:solidFill>
                <a:latin typeface="Barlow SemiCondensed"/>
                <a:ea typeface="Barlow SemiCondensed"/>
                <a:cs typeface="Barlow SemiCondensed"/>
                <a:sym typeface="Barlow SemiCondensed"/>
              </a:rPr>
              <a:t>Fontes: https://dev.to/andersbjorkland/ghosts-of-christmas-a-few-oddities-in-php-1np7</a:t>
            </a:r>
          </a:p>
          <a:p>
            <a:pPr algn="l">
              <a:lnSpc>
                <a:spcPts val="3359"/>
              </a:lnSpc>
            </a:pPr>
            <a:r>
              <a:rPr lang="en-US" sz="2400" spc="-86">
                <a:solidFill>
                  <a:srgbClr val="000000"/>
                </a:solidFill>
                <a:latin typeface="Barlow SemiCondensed"/>
                <a:ea typeface="Barlow SemiCondensed"/>
                <a:cs typeface="Barlow SemiCondensed"/>
                <a:sym typeface="Barlow SemiCondensed"/>
              </a:rPr>
              <a:t>                        https://stackoverflow.com/questions/4749442/what-does-the-b-in-front-of-string-literals-do/4749553#4749553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315712" y="2755629"/>
            <a:ext cx="5972288" cy="1331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9056" indent="-414528" lvl="1">
              <a:lnSpc>
                <a:spcPts val="5376"/>
              </a:lnSpc>
              <a:buFont typeface="Arial"/>
              <a:buChar char="•"/>
            </a:pPr>
            <a:r>
              <a:rPr lang="en-US" sz="3840" spc="-138">
                <a:solidFill>
                  <a:srgbClr val="3272B4"/>
                </a:solidFill>
                <a:latin typeface="Barlow SemiCondensed"/>
                <a:ea typeface="Barlow SemiCondensed"/>
                <a:cs typeface="Barlow SemiCondensed"/>
                <a:sym typeface="Barlow SemiCondensed"/>
              </a:rPr>
              <a:t>O que “b” em frente de uma string significa?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223410" y="4368849"/>
            <a:ext cx="6064590" cy="2138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6797" indent="-263399" lvl="1">
              <a:lnSpc>
                <a:spcPts val="3416"/>
              </a:lnSpc>
              <a:buFont typeface="Arial"/>
              <a:buChar char="•"/>
            </a:pPr>
            <a:r>
              <a:rPr lang="en-US" sz="2440" spc="-87">
                <a:solidFill>
                  <a:srgbClr val="2E3F42"/>
                </a:solidFill>
                <a:latin typeface="Barlow SemiCondensed"/>
                <a:ea typeface="Barlow SemiCondensed"/>
                <a:cs typeface="Barlow SemiCondensed"/>
                <a:sym typeface="Barlow SemiCondensed"/>
              </a:rPr>
              <a:t>Bem curioso não acha? Isso vem  de um token de compatibilidade advindo da versão não lançada do PHP6, o qual prometia total suporte para “unicode”. o “b” vem de binary string  as quais suas funções operam em nivel de byte. 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1873849"/>
            <a:ext cx="8411520" cy="4445122"/>
          </a:xfrm>
          <a:custGeom>
            <a:avLst/>
            <a:gdLst/>
            <a:ahLst/>
            <a:cxnLst/>
            <a:rect r="r" b="b" t="t" l="l"/>
            <a:pathLst>
              <a:path h="4445122" w="8411520">
                <a:moveTo>
                  <a:pt x="0" y="0"/>
                </a:moveTo>
                <a:lnTo>
                  <a:pt x="8411520" y="0"/>
                </a:lnTo>
                <a:lnTo>
                  <a:pt x="8411520" y="4445122"/>
                </a:lnTo>
                <a:lnTo>
                  <a:pt x="0" y="44451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344" t="-26953" r="-15156" b="-2695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703923" y="952500"/>
            <a:ext cx="6617747" cy="674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35"/>
              </a:lnSpc>
              <a:spcBef>
                <a:spcPct val="0"/>
              </a:spcBef>
            </a:pPr>
            <a:r>
              <a:rPr lang="en-US" b="true" sz="3954" spc="-142">
                <a:solidFill>
                  <a:srgbClr val="3272B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EVOLUÇÕES RECENTES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833066" y="2977485"/>
            <a:ext cx="3970418" cy="542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2940" indent="-346470" lvl="1">
              <a:lnSpc>
                <a:spcPts val="4493"/>
              </a:lnSpc>
              <a:buFont typeface="Arial"/>
              <a:buChar char="•"/>
            </a:pPr>
            <a:r>
              <a:rPr lang="en-US" b="true" sz="3209" spc="-115">
                <a:solidFill>
                  <a:srgbClr val="3272B4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Versão mais atual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102863" y="3481937"/>
            <a:ext cx="4102608" cy="1841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454991" indent="-227496" lvl="1">
              <a:lnSpc>
                <a:spcPts val="2950"/>
              </a:lnSpc>
              <a:buFont typeface="Arial"/>
              <a:buChar char="•"/>
            </a:pPr>
            <a:r>
              <a:rPr lang="en-US" b="true" sz="2107" spc="-75">
                <a:solidFill>
                  <a:srgbClr val="3272B4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O PHP 8.5 É A VERSÃO MAIS RECENTE DO PHP. FOI LANÇADO EM 20 DE NOVEMBRO DE 2025 E CHEGARÁ AO FIM DE SUA VIDA ÚTIL EM 31 DE DEZEMBRO DE 2029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102863" y="5911110"/>
            <a:ext cx="3031490" cy="729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19734" indent="-459867" lvl="1">
              <a:lnSpc>
                <a:spcPts val="5963"/>
              </a:lnSpc>
              <a:buFont typeface="Arial"/>
              <a:buChar char="•"/>
            </a:pPr>
            <a:r>
              <a:rPr lang="en-US" b="true" sz="4259" spc="-153">
                <a:solidFill>
                  <a:srgbClr val="3272B4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Novidades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152452" y="6907105"/>
            <a:ext cx="10338435" cy="1709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1114" indent="-265557" lvl="1">
              <a:lnSpc>
                <a:spcPts val="3444"/>
              </a:lnSpc>
              <a:buFont typeface="Arial"/>
              <a:buChar char="•"/>
            </a:pPr>
            <a:r>
              <a:rPr lang="en-US" sz="2460" spc="-88">
                <a:solidFill>
                  <a:srgbClr val="3272B4"/>
                </a:solidFill>
                <a:latin typeface="Barlow SemiCondensed"/>
                <a:ea typeface="Barlow SemiCondensed"/>
                <a:cs typeface="Barlow SemiCondensed"/>
                <a:sym typeface="Barlow SemiCondensed"/>
              </a:rPr>
              <a:t>EXTENSÃO URI</a:t>
            </a:r>
          </a:p>
          <a:p>
            <a:pPr algn="l" marL="531114" indent="-265557" lvl="1">
              <a:lnSpc>
                <a:spcPts val="3444"/>
              </a:lnSpc>
              <a:buFont typeface="Arial"/>
              <a:buChar char="•"/>
            </a:pPr>
            <a:r>
              <a:rPr lang="en-US" sz="2460" spc="-88">
                <a:solidFill>
                  <a:srgbClr val="3272B4"/>
                </a:solidFill>
                <a:latin typeface="Barlow SemiCondensed"/>
                <a:ea typeface="Barlow SemiCondensed"/>
                <a:cs typeface="Barlow SemiCondensed"/>
                <a:sym typeface="Barlow SemiCondensed"/>
              </a:rPr>
              <a:t>OPERADOR DE TUBULAÇÃO</a:t>
            </a:r>
          </a:p>
          <a:p>
            <a:pPr algn="l" marL="531114" indent="-265557" lvl="1">
              <a:lnSpc>
                <a:spcPts val="3444"/>
              </a:lnSpc>
              <a:buFont typeface="Arial"/>
              <a:buChar char="•"/>
            </a:pPr>
            <a:r>
              <a:rPr lang="en-US" sz="2460" spc="-88">
                <a:solidFill>
                  <a:srgbClr val="3272B4"/>
                </a:solidFill>
                <a:latin typeface="Barlow SemiCondensed"/>
                <a:ea typeface="Barlow SemiCondensed"/>
                <a:cs typeface="Barlow SemiCondensed"/>
                <a:sym typeface="Barlow SemiCondensed"/>
              </a:rPr>
              <a:t>CLOSURES E FUNÇÕES CHAMÁVEIS ​​DE PRIMEIRA CLASSE EM EXPRESSÕES CONSTANTES</a:t>
            </a:r>
          </a:p>
          <a:p>
            <a:pPr algn="l" marL="531114" indent="-265557" lvl="1">
              <a:lnSpc>
                <a:spcPts val="3444"/>
              </a:lnSpc>
              <a:buFont typeface="Arial"/>
              <a:buChar char="•"/>
            </a:pPr>
            <a:r>
              <a:rPr lang="en-US" sz="2460" spc="-88">
                <a:solidFill>
                  <a:srgbClr val="3272B4"/>
                </a:solidFill>
                <a:latin typeface="Barlow SemiCondensed"/>
                <a:ea typeface="Barlow SemiCondensed"/>
                <a:cs typeface="Barlow SemiCondensed"/>
                <a:sym typeface="Barlow SemiCondensed"/>
              </a:rPr>
              <a:t>FUNÇÕES ARRAY_FIRST() E ARRAY_LAST()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703923" y="445382"/>
            <a:ext cx="129143" cy="1585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902"/>
              </a:lnSpc>
              <a:spcBef>
                <a:spcPct val="0"/>
              </a:spcBef>
            </a:pPr>
            <a:r>
              <a:rPr lang="en-US" sz="9216" spc="-331">
                <a:solidFill>
                  <a:srgbClr val="3272B4"/>
                </a:solidFill>
                <a:latin typeface="Barlow SemiCondensed"/>
                <a:ea typeface="Barlow SemiCondensed"/>
                <a:cs typeface="Barlow SemiCondensed"/>
                <a:sym typeface="Barlow SemiCondensed"/>
              </a:rPr>
              <a:t>I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804858" y="1028700"/>
            <a:ext cx="6454442" cy="8229600"/>
            <a:chOff x="0" y="0"/>
            <a:chExt cx="999962" cy="12749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99962" cy="1274980"/>
            </a:xfrm>
            <a:custGeom>
              <a:avLst/>
              <a:gdLst/>
              <a:ahLst/>
              <a:cxnLst/>
              <a:rect r="r" b="b" t="t" l="l"/>
              <a:pathLst>
                <a:path h="1274980" w="999962">
                  <a:moveTo>
                    <a:pt x="33585" y="0"/>
                  </a:moveTo>
                  <a:lnTo>
                    <a:pt x="966377" y="0"/>
                  </a:lnTo>
                  <a:cubicBezTo>
                    <a:pt x="975284" y="0"/>
                    <a:pt x="983827" y="3538"/>
                    <a:pt x="990125" y="9837"/>
                  </a:cubicBezTo>
                  <a:cubicBezTo>
                    <a:pt x="996423" y="16135"/>
                    <a:pt x="999962" y="24678"/>
                    <a:pt x="999962" y="33585"/>
                  </a:cubicBezTo>
                  <a:lnTo>
                    <a:pt x="999962" y="1241395"/>
                  </a:lnTo>
                  <a:cubicBezTo>
                    <a:pt x="999962" y="1250303"/>
                    <a:pt x="996423" y="1258845"/>
                    <a:pt x="990125" y="1265144"/>
                  </a:cubicBezTo>
                  <a:cubicBezTo>
                    <a:pt x="983827" y="1271442"/>
                    <a:pt x="975284" y="1274980"/>
                    <a:pt x="966377" y="1274980"/>
                  </a:cubicBezTo>
                  <a:lnTo>
                    <a:pt x="33585" y="1274980"/>
                  </a:lnTo>
                  <a:cubicBezTo>
                    <a:pt x="15037" y="1274980"/>
                    <a:pt x="0" y="1259944"/>
                    <a:pt x="0" y="1241395"/>
                  </a:cubicBezTo>
                  <a:lnTo>
                    <a:pt x="0" y="33585"/>
                  </a:lnTo>
                  <a:cubicBezTo>
                    <a:pt x="0" y="15037"/>
                    <a:pt x="15037" y="0"/>
                    <a:pt x="33585" y="0"/>
                  </a:cubicBezTo>
                  <a:close/>
                </a:path>
              </a:pathLst>
            </a:custGeom>
            <a:blipFill>
              <a:blip r:embed="rId2"/>
              <a:stretch>
                <a:fillRect l="0" t="0" r="-35363" b="0"/>
              </a:stretch>
            </a:blipFill>
          </p:spPr>
        </p:sp>
      </p:grpSp>
      <p:sp>
        <p:nvSpPr>
          <p:cNvPr name="AutoShape 4" id="4"/>
          <p:cNvSpPr/>
          <p:nvPr/>
        </p:nvSpPr>
        <p:spPr>
          <a:xfrm flipV="true">
            <a:off x="1173296" y="1923733"/>
            <a:ext cx="9137662" cy="0"/>
          </a:xfrm>
          <a:prstGeom prst="line">
            <a:avLst/>
          </a:prstGeom>
          <a:ln cap="flat" w="38100">
            <a:solidFill>
              <a:srgbClr val="3272B4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2669032" y="3366770"/>
            <a:ext cx="6474968" cy="4363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62"/>
              </a:lnSpc>
            </a:pPr>
            <a:r>
              <a:rPr lang="en-US" b="true" sz="36351" spc="-1090">
                <a:solidFill>
                  <a:srgbClr val="3272B4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PHP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73296" y="1066800"/>
            <a:ext cx="3500977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4"/>
              </a:lnSpc>
            </a:pPr>
            <a:r>
              <a:rPr lang="en-US" sz="2499" b="true">
                <a:solidFill>
                  <a:srgbClr val="3272B4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PHP - PESQUISA ÁGIL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669032" y="8149398"/>
            <a:ext cx="6474968" cy="721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b="true" sz="4199">
                <a:solidFill>
                  <a:srgbClr val="3272B4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OBRIGADO POR ACOMPANHAR!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DAHKXAUXAdg</dc:identifier>
  <dcterms:modified xsi:type="dcterms:W3CDTF">2011-08-01T06:04:30Z</dcterms:modified>
  <cp:revision>1</cp:revision>
  <dc:title>PHP - Pesquisa Ágil</dc:title>
</cp:coreProperties>
</file>